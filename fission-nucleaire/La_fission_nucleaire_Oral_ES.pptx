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6aab3c1-1d64-7d1a-fcd7-1613e6f7a2ca}">
          <p14:sldIdLst>
            <p14:sldId id="256"/>
          </p14:sldIdLst>
        </p14:section>
        <p14:section name="Définition" id="{9a7aee99-322a-cc97-946c-46177fc75a06}">
          <p14:sldIdLst>
            <p14:sldId id="257"/>
          </p14:sldIdLst>
        </p14:section>
        <p14:section name="Combustibles" id="{61e07234-ee86-d984-9fd6-8b84277af5a2}">
          <p14:sldIdLst>
            <p14:sldId id="258"/>
          </p14:sldIdLst>
        </p14:section>
        <p14:section name="Électricité" id="{86dffd04-6363-0405-6896-92c0af32ac7a}">
          <p14:sldIdLst>
            <p14:sldId id="259"/>
          </p14:sldIdLst>
        </p14:section>
        <p14:section name="Centrale et armes" id="{460fa377-4317-7114-2d58-b898dbaaa98c}">
          <p14:sldIdLst>
            <p14:sldId id="260"/>
          </p14:sldIdLst>
        </p14:section>
        <p14:section name="Conclusion" id="{80144a2d-e672-894a-5961-ddadc03629a7}">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Manon — La fission nucléaire est une réaction au cours de laquelle le noyau d’un atome lourd se divise en deux noyaux plus légers, appelés noyaux fils. Un exemple important est celui de l’uranium 235. Lorsqu’un neutron entre en collision avec un noyau d’uranium 235, celui-ci absorbe le neutron et devient instable. Le noyau se déforme alors puis se divise en deux noyaux plus légers. Cette réaction libère également plusieurs neutrons et une grande quantité d’énergie. Cette énergie s’explique par une légère différence de masse entre les particules présentes avant et après la réaction. Une partie de cette masse est transformée en énergie selon la relation d’Einstein : E = mc². La fission correspond donc à la division d’un noyau lourd, accompagnée d’une libération d’énergie et de neutrons.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Tom — Pour réaliser une fission nucléaire, il faut utiliser un matériau fissile, c’est-à-dire un matériau dont les noyaux peuvent subir une fission après capture d’un neutron. Le combustible le plus connu est l’uranium 235. Il existe également d’autres noyaux fissiles, notamment le plutonium 239 et l’uranium 233. Dans un réacteur nucléaire, ces noyaux peuvent entretenir une réaction en chaîne. Lorsqu’un noyau fissile se divise, il libère plusieurs neutrons. Ces neutrons peuvent provoquer la fission d’autres noyaux fissiles, qui libèrent à leur tour de nouveaux neutrons. La réaction peut donc se poursuivre. Dans une centrale nucléaire, cette réaction en chaîne est contrôlée afin de maintenir une production d’énergie régulière.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Coralie — La fission nucléaire est principalement utilisée dans les centrales nucléaires pour produire de l’électricité. Mais comment passe-t-on d’une réaction nucléaire à de l’électricité ? Dans le réacteur, les noyaux d’uranium se divisent. Ces réactions produisent une très grande quantité de chaleur. Cette chaleur va servir à chauffer de l’eau. L’eau se transforme alors en vapeur. Cette vapeur est envoyée sous pression sur une turbine. Elle fait tourner la turbine. La turbine est reliée à un alternateur. En tournant, elle permet à l’alternateur de produire de l’électricité. On a donc une succession d’étapes assez simple : la fission produit de la chaleur, la chaleur produit de la vapeur, la vapeur fait tourner une turbine, et la turbine permet de produire de l’électricité. La réaction de fission est donc utilisée comme source de chaleur pour produire de l’électricité.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Martin — La fission nucléaire peut également être utilisée dans les armes nucléaires. Le principe repose lui aussi sur une réaction en chaîne, mais contrairement à un réacteur nucléaire, celle-ci n’est pas contrôlée. Lorsqu’un grand nombre de noyaux fissiles sont réunis dans des conditions permettant à la réaction de se développer très rapidement, les neutrons produits provoquent de nombreuses nouvelles fissions en très peu de temps. Une quantité considérable d’énergie est alors libérée presque instantanément. C’est ce qui permet une explosion nucléaire. Il existe donc une différence essentielle entre une centrale nucléaire et une arme nucléaire : dans une centrale, la réaction en chaîne est contrôlée pour produire progressivement de l’énergie ; dans une arme, elle est extrêmement rapide et non contrôlée.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Manon — Pour conclure, la fission nucléaire consiste à diviser des noyaux lourds et à libérer de l’énergie. Elle peut être utilisée de manière contrôlée pour produire de l’électricité, mais elle peut également être mise en œuvre dans les armes nucléaires.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chemeClr val="bg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accent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re"/>
          <p:cNvSpPr txBox="1"/>
          <p:nvPr/>
        </p:nvSpPr>
        <p:spPr>
          <a:xfrm>
            <a:off x="731520" y="1417320"/>
            <a:ext cx="5669280" cy="2011680"/>
          </a:xfrm>
          <a:prstGeom prst="rect">
            <a:avLst/>
          </a:prstGeom>
          <a:noFill/>
          <a:ln/>
        </p:spPr>
        <p:txBody>
          <a:bodyPr wrap="square" lIns="0" tIns="0" rIns="0" bIns="0" rtlCol="0" anchor="b"/>
          <a:lstStyle/>
          <a:p>
            <a:pPr indent="0" marL="0">
              <a:buNone/>
            </a:pPr>
            <a:r>
              <a:rPr lang="en-US" sz="5600" b="1" dirty="0">
                <a:solidFill>
                  <a:schemeClr val="tx2"/>
                </a:solidFill>
              </a:rPr>
              <a:t>La Fission Nucléaire</a:t>
            </a:r>
            <a:endParaRPr lang="en-US" sz="5600" dirty="0"/>
          </a:p>
        </p:txBody>
      </p:sp>
      <p:sp>
        <p:nvSpPr>
          <p:cNvPr id="3" name="Sous-titre"/>
          <p:cNvSpPr txBox="1"/>
          <p:nvPr/>
        </p:nvSpPr>
        <p:spPr>
          <a:xfrm>
            <a:off x="731520" y="3611880"/>
            <a:ext cx="5669280" cy="548640"/>
          </a:xfrm>
          <a:prstGeom prst="rect">
            <a:avLst/>
          </a:prstGeom>
          <a:noFill/>
          <a:ln/>
        </p:spPr>
        <p:txBody>
          <a:bodyPr wrap="square" lIns="0" tIns="0" rIns="0" bIns="0" rtlCol="0" anchor="ctr"/>
          <a:lstStyle/>
          <a:p>
            <a:pPr indent="0" marL="0">
              <a:buNone/>
            </a:pPr>
            <a:r>
              <a:rPr lang="en-US" sz="2400" dirty="0">
                <a:solidFill>
                  <a:schemeClr val="accent1"/>
                </a:solidFill>
              </a:rPr>
              <a:t>Oral d’enseignement scientifique</a:t>
            </a:r>
            <a:endParaRPr lang="en-US" sz="2400" dirty="0"/>
          </a:p>
        </p:txBody>
      </p:sp>
      <p:sp>
        <p:nvSpPr>
          <p:cNvPr id="4" name="Pastille Coralie"/>
          <p:cNvSpPr/>
          <p:nvPr/>
        </p:nvSpPr>
        <p:spPr>
          <a:xfrm>
            <a:off x="731520" y="4572000"/>
            <a:ext cx="1325880" cy="475488"/>
          </a:xfrm>
          <a:prstGeom prst="roundRect">
            <a:avLst>
              <a:gd name="adj" fmla="val 50000"/>
            </a:avLst>
          </a:prstGeom>
          <a:solidFill>
            <a:schemeClr val="bg1"/>
          </a:solidFill>
          <a:ln w="12700">
            <a:solidFill>
              <a:schemeClr val="accent1"/>
            </a:solidFill>
            <a:prstDash val="solid"/>
          </a:ln>
        </p:spPr>
      </p:sp>
      <p:sp>
        <p:nvSpPr>
          <p:cNvPr id="5" name="Prénom Coralie"/>
          <p:cNvSpPr txBox="1"/>
          <p:nvPr/>
        </p:nvSpPr>
        <p:spPr>
          <a:xfrm>
            <a:off x="731520" y="4572000"/>
            <a:ext cx="1325880" cy="475488"/>
          </a:xfrm>
          <a:prstGeom prst="rect">
            <a:avLst/>
          </a:prstGeom>
          <a:noFill/>
          <a:ln/>
        </p:spPr>
        <p:txBody>
          <a:bodyPr wrap="square" lIns="0" tIns="0" rIns="0" bIns="0" rtlCol="0" anchor="ctr"/>
          <a:lstStyle/>
          <a:p>
            <a:pPr algn="ctr" indent="0" marL="0">
              <a:buNone/>
            </a:pPr>
            <a:r>
              <a:rPr lang="en-US" sz="1600" b="1" dirty="0">
                <a:solidFill>
                  <a:schemeClr val="tx2"/>
                </a:solidFill>
              </a:rPr>
              <a:t>Coralie</a:t>
            </a:r>
            <a:endParaRPr lang="en-US" sz="1600" dirty="0"/>
          </a:p>
        </p:txBody>
      </p:sp>
      <p:sp>
        <p:nvSpPr>
          <p:cNvPr id="6" name="Pastille Manon"/>
          <p:cNvSpPr/>
          <p:nvPr/>
        </p:nvSpPr>
        <p:spPr>
          <a:xfrm>
            <a:off x="2194560" y="4572000"/>
            <a:ext cx="1325880" cy="475488"/>
          </a:xfrm>
          <a:prstGeom prst="roundRect">
            <a:avLst>
              <a:gd name="adj" fmla="val 50000"/>
            </a:avLst>
          </a:prstGeom>
          <a:solidFill>
            <a:schemeClr val="bg1"/>
          </a:solidFill>
          <a:ln w="12700">
            <a:solidFill>
              <a:schemeClr val="accent1"/>
            </a:solidFill>
            <a:prstDash val="solid"/>
          </a:ln>
        </p:spPr>
      </p:sp>
      <p:sp>
        <p:nvSpPr>
          <p:cNvPr id="7" name="Prénom Manon"/>
          <p:cNvSpPr txBox="1"/>
          <p:nvPr/>
        </p:nvSpPr>
        <p:spPr>
          <a:xfrm>
            <a:off x="2194560" y="4572000"/>
            <a:ext cx="1325880" cy="475488"/>
          </a:xfrm>
          <a:prstGeom prst="rect">
            <a:avLst/>
          </a:prstGeom>
          <a:noFill/>
          <a:ln/>
        </p:spPr>
        <p:txBody>
          <a:bodyPr wrap="square" lIns="0" tIns="0" rIns="0" bIns="0" rtlCol="0" anchor="ctr"/>
          <a:lstStyle/>
          <a:p>
            <a:pPr algn="ctr" indent="0" marL="0">
              <a:buNone/>
            </a:pPr>
            <a:r>
              <a:rPr lang="en-US" sz="1600" b="1" dirty="0">
                <a:solidFill>
                  <a:schemeClr val="tx2"/>
                </a:solidFill>
              </a:rPr>
              <a:t>Manon</a:t>
            </a:r>
            <a:endParaRPr lang="en-US" sz="1600" dirty="0"/>
          </a:p>
        </p:txBody>
      </p:sp>
      <p:sp>
        <p:nvSpPr>
          <p:cNvPr id="8" name="Pastille Tom"/>
          <p:cNvSpPr/>
          <p:nvPr/>
        </p:nvSpPr>
        <p:spPr>
          <a:xfrm>
            <a:off x="3657600" y="4572000"/>
            <a:ext cx="1325880" cy="475488"/>
          </a:xfrm>
          <a:prstGeom prst="roundRect">
            <a:avLst>
              <a:gd name="adj" fmla="val 50000"/>
            </a:avLst>
          </a:prstGeom>
          <a:solidFill>
            <a:schemeClr val="bg1"/>
          </a:solidFill>
          <a:ln w="12700">
            <a:solidFill>
              <a:schemeClr val="accent1"/>
            </a:solidFill>
            <a:prstDash val="solid"/>
          </a:ln>
        </p:spPr>
      </p:sp>
      <p:sp>
        <p:nvSpPr>
          <p:cNvPr id="9" name="Prénom Tom"/>
          <p:cNvSpPr txBox="1"/>
          <p:nvPr/>
        </p:nvSpPr>
        <p:spPr>
          <a:xfrm>
            <a:off x="3657600" y="4572000"/>
            <a:ext cx="1325880" cy="475488"/>
          </a:xfrm>
          <a:prstGeom prst="rect">
            <a:avLst/>
          </a:prstGeom>
          <a:noFill/>
          <a:ln/>
        </p:spPr>
        <p:txBody>
          <a:bodyPr wrap="square" lIns="0" tIns="0" rIns="0" bIns="0" rtlCol="0" anchor="ctr"/>
          <a:lstStyle/>
          <a:p>
            <a:pPr algn="ctr" indent="0" marL="0">
              <a:buNone/>
            </a:pPr>
            <a:r>
              <a:rPr lang="en-US" sz="1600" b="1" dirty="0">
                <a:solidFill>
                  <a:schemeClr val="tx2"/>
                </a:solidFill>
              </a:rPr>
              <a:t>Tom</a:t>
            </a:r>
            <a:endParaRPr lang="en-US" sz="1600" dirty="0"/>
          </a:p>
        </p:txBody>
      </p:sp>
      <p:sp>
        <p:nvSpPr>
          <p:cNvPr id="10" name="Pastille Martin"/>
          <p:cNvSpPr/>
          <p:nvPr/>
        </p:nvSpPr>
        <p:spPr>
          <a:xfrm>
            <a:off x="5120640" y="4572000"/>
            <a:ext cx="1325880" cy="475488"/>
          </a:xfrm>
          <a:prstGeom prst="roundRect">
            <a:avLst>
              <a:gd name="adj" fmla="val 50000"/>
            </a:avLst>
          </a:prstGeom>
          <a:solidFill>
            <a:schemeClr val="bg1"/>
          </a:solidFill>
          <a:ln w="12700">
            <a:solidFill>
              <a:schemeClr val="accent1"/>
            </a:solidFill>
            <a:prstDash val="solid"/>
          </a:ln>
        </p:spPr>
      </p:sp>
      <p:sp>
        <p:nvSpPr>
          <p:cNvPr id="11" name="Prénom Martin"/>
          <p:cNvSpPr txBox="1"/>
          <p:nvPr/>
        </p:nvSpPr>
        <p:spPr>
          <a:xfrm>
            <a:off x="5120640" y="4572000"/>
            <a:ext cx="1325880" cy="475488"/>
          </a:xfrm>
          <a:prstGeom prst="rect">
            <a:avLst/>
          </a:prstGeom>
          <a:noFill/>
          <a:ln/>
        </p:spPr>
        <p:txBody>
          <a:bodyPr wrap="square" lIns="0" tIns="0" rIns="0" bIns="0" rtlCol="0" anchor="ctr"/>
          <a:lstStyle/>
          <a:p>
            <a:pPr algn="ctr" indent="0" marL="0">
              <a:buNone/>
            </a:pPr>
            <a:r>
              <a:rPr lang="en-US" sz="1600" b="1" dirty="0">
                <a:solidFill>
                  <a:schemeClr val="tx2"/>
                </a:solidFill>
              </a:rPr>
              <a:t>Martin</a:t>
            </a:r>
            <a:endParaRPr lang="en-US" sz="1600" dirty="0"/>
          </a:p>
        </p:txBody>
      </p:sp>
      <p:sp>
        <p:nvSpPr>
          <p:cNvPr id="12" name="Cadre atome"/>
          <p:cNvSpPr/>
          <p:nvPr/>
        </p:nvSpPr>
        <p:spPr>
          <a:xfrm>
            <a:off x="6629400" y="594360"/>
            <a:ext cx="3108960" cy="3017520"/>
          </a:xfrm>
          <a:prstGeom prst="roundRect">
            <a:avLst>
              <a:gd name="adj" fmla="val 4545"/>
            </a:avLst>
          </a:prstGeom>
          <a:solidFill>
            <a:srgbClr val="F3F4F8"/>
          </a:solidFill>
          <a:ln w="9525">
            <a:solidFill>
              <a:srgbClr val="D8E6F5"/>
            </a:solidFill>
            <a:prstDash val="solid"/>
          </a:ln>
        </p:spPr>
      </p:sp>
      <p:pic>
        <p:nvPicPr>
          <p:cNvPr id="13" name="Atome" descr="Dessin d’un atome">    </p:cNvPr>
          <p:cNvPicPr>
            <a:picLocks noChangeAspect="1"/>
          </p:cNvPicPr>
          <p:nvPr/>
        </p:nvPicPr>
        <p:blipFill>
          <a:blip r:embed="rId1"/>
          <a:stretch>
            <a:fillRect/>
          </a:stretch>
        </p:blipFill>
        <p:spPr>
          <a:xfrm>
            <a:off x="6766560" y="749808"/>
            <a:ext cx="2834640" cy="2700132"/>
          </a:xfrm>
          <a:prstGeom prst="rect">
            <a:avLst/>
          </a:prstGeom>
        </p:spPr>
      </p:pic>
      <p:sp>
        <p:nvSpPr>
          <p:cNvPr id="14" name="Cadre centrale"/>
          <p:cNvSpPr/>
          <p:nvPr/>
        </p:nvSpPr>
        <p:spPr>
          <a:xfrm>
            <a:off x="8641080" y="3520440"/>
            <a:ext cx="3017520" cy="3017520"/>
          </a:xfrm>
          <a:prstGeom prst="roundRect">
            <a:avLst>
              <a:gd name="adj" fmla="val 4545"/>
            </a:avLst>
          </a:prstGeom>
          <a:solidFill>
            <a:schemeClr val="bg1"/>
          </a:solidFill>
          <a:ln w="9525">
            <a:solidFill>
              <a:srgbClr val="D8E6F5"/>
            </a:solidFill>
            <a:prstDash val="solid"/>
          </a:ln>
        </p:spPr>
      </p:sp>
      <p:pic>
        <p:nvPicPr>
          <p:cNvPr id="15" name="Centrale" descr="Centrale nucléaire stylisée">    </p:cNvPr>
          <p:cNvPicPr>
            <a:picLocks noChangeAspect="1"/>
          </p:cNvPicPr>
          <p:nvPr/>
        </p:nvPicPr>
        <p:blipFill>
          <a:blip r:embed="rId2"/>
          <a:stretch>
            <a:fillRect/>
          </a:stretch>
        </p:blipFill>
        <p:spPr>
          <a:xfrm>
            <a:off x="8732520" y="3611880"/>
            <a:ext cx="2834640" cy="2824370"/>
          </a:xfrm>
          <a:prstGeom prst="rect">
            <a:avLst/>
          </a:prstGeom>
        </p:spPr>
      </p:pic>
      <p:sp>
        <p:nvSpPr>
          <p:cNvPr id="16" name="Cadre molécule"/>
          <p:cNvSpPr/>
          <p:nvPr/>
        </p:nvSpPr>
        <p:spPr>
          <a:xfrm>
            <a:off x="10195560" y="777240"/>
            <a:ext cx="1417320" cy="1481328"/>
          </a:xfrm>
          <a:prstGeom prst="roundRect">
            <a:avLst>
              <a:gd name="adj" fmla="val 9677"/>
            </a:avLst>
          </a:prstGeom>
          <a:solidFill>
            <a:srgbClr val="F7F7F7"/>
          </a:solidFill>
          <a:ln w="9525">
            <a:solidFill>
              <a:srgbClr val="D8E6F5"/>
            </a:solidFill>
            <a:prstDash val="solid"/>
          </a:ln>
        </p:spPr>
      </p:sp>
      <p:pic>
        <p:nvPicPr>
          <p:cNvPr id="17" name="Motif décoratif" descr="Motif moléculaire décoratif">    </p:cNvPr>
          <p:cNvPicPr>
            <a:picLocks noChangeAspect="1"/>
          </p:cNvPicPr>
          <p:nvPr/>
        </p:nvPicPr>
        <p:blipFill>
          <a:blip r:embed="rId3"/>
          <a:stretch>
            <a:fillRect/>
          </a:stretch>
        </p:blipFill>
        <p:spPr>
          <a:xfrm>
            <a:off x="10259568" y="841248"/>
            <a:ext cx="1289304" cy="137660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200" b="1" dirty="0">
                <a:solidFill>
                  <a:schemeClr val="tx2"/>
                </a:solidFill>
              </a:rPr>
              <a:t>Qu’est-ce que la fission nucléaire ?</a:t>
            </a:r>
            <a:endParaRPr lang="en-US" sz="3200" dirty="0"/>
          </a:p>
        </p:txBody>
      </p:sp>
      <p:sp>
        <p:nvSpPr>
          <p:cNvPr id="3" name="Présentation"/>
          <p:cNvSpPr/>
          <p:nvPr/>
        </p:nvSpPr>
        <p:spPr>
          <a:xfrm>
            <a:off x="9372600" y="457200"/>
            <a:ext cx="2267712" cy="475488"/>
          </a:xfrm>
          <a:prstGeom prst="roundRect">
            <a:avLst>
              <a:gd name="adj" fmla="val 50000"/>
            </a:avLst>
          </a:prstGeom>
          <a:solidFill>
            <a:schemeClr val="bg2"/>
          </a:solidFill>
          <a:ln w="12700">
            <a:solidFill>
              <a:schemeClr val="bg2"/>
            </a:solidFill>
            <a:prstDash val="solid"/>
          </a:ln>
        </p:spPr>
      </p:sp>
      <p:sp>
        <p:nvSpPr>
          <p:cNvPr id="4" name="Nom orateur"/>
          <p:cNvSpPr txBox="1"/>
          <p:nvPr/>
        </p:nvSpPr>
        <p:spPr>
          <a:xfrm>
            <a:off x="9372600" y="457200"/>
            <a:ext cx="2267712" cy="475488"/>
          </a:xfrm>
          <a:prstGeom prst="rect">
            <a:avLst/>
          </a:prstGeom>
          <a:noFill/>
          <a:ln/>
        </p:spPr>
        <p:txBody>
          <a:bodyPr wrap="square" lIns="0" tIns="0" rIns="0" bIns="0" rtlCol="0" anchor="ctr"/>
          <a:lstStyle/>
          <a:p>
            <a:pPr algn="ctr" indent="0" marL="0">
              <a:buNone/>
            </a:pPr>
            <a:r>
              <a:rPr lang="en-US" sz="1400" dirty="0">
                <a:solidFill>
                  <a:schemeClr val="accent6"/>
                </a:solidFill>
              </a:rPr>
              <a:t>Présentatrice : </a:t>
            </a:r>
            <a:pPr algn="ctr" indent="0" marL="0">
              <a:buNone/>
            </a:pPr>
            <a:r>
              <a:rPr lang="en-US" sz="1400" b="1" dirty="0">
                <a:solidFill>
                  <a:schemeClr val="tx2"/>
                </a:solidFill>
              </a:rPr>
              <a:t>Manon</a:t>
            </a:r>
            <a:endParaRPr lang="en-US" sz="1400" dirty="0"/>
          </a:p>
        </p:txBody>
      </p:sp>
      <p:sp>
        <p:nvSpPr>
          <p:cNvPr id="5" name="Repère 1"/>
          <p:cNvSpPr/>
          <p:nvPr/>
        </p:nvSpPr>
        <p:spPr>
          <a:xfrm>
            <a:off x="548640" y="1417320"/>
            <a:ext cx="384048" cy="384048"/>
          </a:xfrm>
          <a:prstGeom prst="ellipse">
            <a:avLst/>
          </a:prstGeom>
          <a:solidFill>
            <a:schemeClr val="accent1"/>
          </a:solidFill>
          <a:ln w="12700">
            <a:solidFill>
              <a:schemeClr val="accent1"/>
            </a:solidFill>
            <a:prstDash val="solid"/>
          </a:ln>
        </p:spPr>
      </p:sp>
      <p:sp>
        <p:nvSpPr>
          <p:cNvPr id="6" name="Numéro 1"/>
          <p:cNvSpPr txBox="1"/>
          <p:nvPr/>
        </p:nvSpPr>
        <p:spPr>
          <a:xfrm>
            <a:off x="548640" y="141732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Idée 1"/>
          <p:cNvSpPr txBox="1"/>
          <p:nvPr/>
        </p:nvSpPr>
        <p:spPr>
          <a:xfrm>
            <a:off x="1097280" y="1371600"/>
            <a:ext cx="4572000" cy="1097280"/>
          </a:xfrm>
          <a:prstGeom prst="rect">
            <a:avLst/>
          </a:prstGeom>
          <a:noFill/>
          <a:ln/>
        </p:spPr>
        <p:txBody>
          <a:bodyPr wrap="square" lIns="0" tIns="0" rIns="0" bIns="0" rtlCol="0" anchor="t"/>
          <a:lstStyle/>
          <a:p>
            <a:pPr indent="0" marL="0">
              <a:spcAft>
                <a:spcPts val="300"/>
              </a:spcAft>
              <a:buNone/>
            </a:pPr>
            <a:r>
              <a:rPr lang="en-US" sz="1800" b="1" dirty="0">
                <a:solidFill>
                  <a:schemeClr val="tx2"/>
                </a:solidFill>
              </a:rPr>
              <a:t>Définition</a:t>
            </a:r>
            <a:endParaRPr lang="en-US" sz="1800" dirty="0"/>
          </a:p>
          <a:p>
            <a:pPr indent="0" marL="0">
              <a:spcAft>
                <a:spcPts val="300"/>
              </a:spcAft>
              <a:buNone/>
            </a:pPr>
            <a:r>
              <a:rPr lang="en-US" sz="1600" dirty="0">
                <a:solidFill>
                  <a:schemeClr val="tx1"/>
                </a:solidFill>
              </a:rPr>
              <a:t>Division d’un noyau d’atome lourd en deux noyaux plus légers, appelés noyaux fils.</a:t>
            </a:r>
            <a:endParaRPr lang="en-US" sz="1800" dirty="0"/>
          </a:p>
        </p:txBody>
      </p:sp>
      <p:sp>
        <p:nvSpPr>
          <p:cNvPr id="8" name="Repère 2"/>
          <p:cNvSpPr/>
          <p:nvPr/>
        </p:nvSpPr>
        <p:spPr>
          <a:xfrm>
            <a:off x="548640" y="2633472"/>
            <a:ext cx="384048" cy="384048"/>
          </a:xfrm>
          <a:prstGeom prst="ellipse">
            <a:avLst/>
          </a:prstGeom>
          <a:solidFill>
            <a:schemeClr val="accent1"/>
          </a:solidFill>
          <a:ln w="12700">
            <a:solidFill>
              <a:schemeClr val="accent1"/>
            </a:solidFill>
            <a:prstDash val="solid"/>
          </a:ln>
        </p:spPr>
      </p:sp>
      <p:sp>
        <p:nvSpPr>
          <p:cNvPr id="9" name="Numéro 2"/>
          <p:cNvSpPr txBox="1"/>
          <p:nvPr/>
        </p:nvSpPr>
        <p:spPr>
          <a:xfrm>
            <a:off x="548640" y="2633472"/>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0" name="Idée 2"/>
          <p:cNvSpPr txBox="1"/>
          <p:nvPr/>
        </p:nvSpPr>
        <p:spPr>
          <a:xfrm>
            <a:off x="1097280" y="2587752"/>
            <a:ext cx="4572000" cy="1097280"/>
          </a:xfrm>
          <a:prstGeom prst="rect">
            <a:avLst/>
          </a:prstGeom>
          <a:noFill/>
          <a:ln/>
        </p:spPr>
        <p:txBody>
          <a:bodyPr wrap="square" lIns="0" tIns="0" rIns="0" bIns="0" rtlCol="0" anchor="t"/>
          <a:lstStyle/>
          <a:p>
            <a:pPr indent="0" marL="0">
              <a:spcAft>
                <a:spcPts val="300"/>
              </a:spcAft>
              <a:buNone/>
            </a:pPr>
            <a:r>
              <a:rPr lang="en-US" sz="1800" b="1" dirty="0">
                <a:solidFill>
                  <a:schemeClr val="tx2"/>
                </a:solidFill>
              </a:rPr>
              <a:t>Exemple</a:t>
            </a:r>
            <a:endParaRPr lang="en-US" sz="1800" dirty="0"/>
          </a:p>
          <a:p>
            <a:pPr indent="0" marL="0">
              <a:spcAft>
                <a:spcPts val="300"/>
              </a:spcAft>
              <a:buNone/>
            </a:pPr>
            <a:r>
              <a:rPr lang="en-US" sz="1600" dirty="0">
                <a:solidFill>
                  <a:schemeClr val="tx1"/>
                </a:solidFill>
              </a:rPr>
              <a:t>Un neutron percute un noyau d’uranium 235, qui devient instable et se divise.</a:t>
            </a:r>
            <a:endParaRPr lang="en-US" sz="1800" dirty="0"/>
          </a:p>
        </p:txBody>
      </p:sp>
      <p:sp>
        <p:nvSpPr>
          <p:cNvPr id="11" name="Repère 3"/>
          <p:cNvSpPr/>
          <p:nvPr/>
        </p:nvSpPr>
        <p:spPr>
          <a:xfrm>
            <a:off x="548640" y="3849624"/>
            <a:ext cx="384048" cy="384048"/>
          </a:xfrm>
          <a:prstGeom prst="ellipse">
            <a:avLst/>
          </a:prstGeom>
          <a:solidFill>
            <a:schemeClr val="accent1"/>
          </a:solidFill>
          <a:ln w="12700">
            <a:solidFill>
              <a:schemeClr val="accent1"/>
            </a:solidFill>
            <a:prstDash val="solid"/>
          </a:ln>
        </p:spPr>
      </p:sp>
      <p:sp>
        <p:nvSpPr>
          <p:cNvPr id="12" name="Numéro 3"/>
          <p:cNvSpPr txBox="1"/>
          <p:nvPr/>
        </p:nvSpPr>
        <p:spPr>
          <a:xfrm>
            <a:off x="548640" y="3849624"/>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3" name="Idée 3"/>
          <p:cNvSpPr txBox="1"/>
          <p:nvPr/>
        </p:nvSpPr>
        <p:spPr>
          <a:xfrm>
            <a:off x="1097280" y="3803904"/>
            <a:ext cx="4572000" cy="1097280"/>
          </a:xfrm>
          <a:prstGeom prst="rect">
            <a:avLst/>
          </a:prstGeom>
          <a:noFill/>
          <a:ln/>
        </p:spPr>
        <p:txBody>
          <a:bodyPr wrap="square" lIns="0" tIns="0" rIns="0" bIns="0" rtlCol="0" anchor="t"/>
          <a:lstStyle/>
          <a:p>
            <a:pPr indent="0" marL="0">
              <a:spcAft>
                <a:spcPts val="300"/>
              </a:spcAft>
              <a:buNone/>
            </a:pPr>
            <a:r>
              <a:rPr lang="en-US" sz="1800" b="1" dirty="0">
                <a:solidFill>
                  <a:schemeClr val="tx2"/>
                </a:solidFill>
              </a:rPr>
              <a:t>Produits</a:t>
            </a:r>
            <a:endParaRPr lang="en-US" sz="1800" dirty="0"/>
          </a:p>
          <a:p>
            <a:pPr indent="0" marL="0">
              <a:spcAft>
                <a:spcPts val="300"/>
              </a:spcAft>
              <a:buNone/>
            </a:pPr>
            <a:r>
              <a:rPr lang="en-US" sz="1600" dirty="0">
                <a:solidFill>
                  <a:schemeClr val="tx1"/>
                </a:solidFill>
              </a:rPr>
              <a:t>Deux noyaux fils, plusieurs neutrons et une grande quantité d’énergie.</a:t>
            </a:r>
            <a:endParaRPr lang="en-US" sz="1800" dirty="0"/>
          </a:p>
        </p:txBody>
      </p:sp>
      <p:sp>
        <p:nvSpPr>
          <p:cNvPr id="14" name="Repère 4"/>
          <p:cNvSpPr/>
          <p:nvPr/>
        </p:nvSpPr>
        <p:spPr>
          <a:xfrm>
            <a:off x="548640" y="5065776"/>
            <a:ext cx="384048" cy="384048"/>
          </a:xfrm>
          <a:prstGeom prst="ellipse">
            <a:avLst/>
          </a:prstGeom>
          <a:solidFill>
            <a:schemeClr val="accent1"/>
          </a:solidFill>
          <a:ln w="12700">
            <a:solidFill>
              <a:schemeClr val="accent1"/>
            </a:solidFill>
            <a:prstDash val="solid"/>
          </a:ln>
        </p:spPr>
      </p:sp>
      <p:sp>
        <p:nvSpPr>
          <p:cNvPr id="15" name="Numéro 4"/>
          <p:cNvSpPr txBox="1"/>
          <p:nvPr/>
        </p:nvSpPr>
        <p:spPr>
          <a:xfrm>
            <a:off x="548640" y="506577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6" name="Idée 4"/>
          <p:cNvSpPr txBox="1"/>
          <p:nvPr/>
        </p:nvSpPr>
        <p:spPr>
          <a:xfrm>
            <a:off x="1097280" y="5020056"/>
            <a:ext cx="4572000" cy="1097280"/>
          </a:xfrm>
          <a:prstGeom prst="rect">
            <a:avLst/>
          </a:prstGeom>
          <a:noFill/>
          <a:ln/>
        </p:spPr>
        <p:txBody>
          <a:bodyPr wrap="square" lIns="0" tIns="0" rIns="0" bIns="0" rtlCol="0" anchor="t"/>
          <a:lstStyle/>
          <a:p>
            <a:pPr indent="0" marL="0">
              <a:spcAft>
                <a:spcPts val="300"/>
              </a:spcAft>
              <a:buNone/>
            </a:pPr>
            <a:r>
              <a:rPr lang="en-US" sz="1800" b="1" dirty="0">
                <a:solidFill>
                  <a:schemeClr val="tx2"/>
                </a:solidFill>
              </a:rPr>
              <a:t>Origine de l’énergie</a:t>
            </a:r>
            <a:endParaRPr lang="en-US" sz="1800" dirty="0"/>
          </a:p>
          <a:p>
            <a:pPr indent="0" marL="0">
              <a:spcAft>
                <a:spcPts val="300"/>
              </a:spcAft>
              <a:buNone/>
            </a:pPr>
            <a:r>
              <a:rPr lang="en-US" sz="1600" dirty="0">
                <a:solidFill>
                  <a:schemeClr val="tx1"/>
                </a:solidFill>
              </a:rPr>
              <a:t>Une légère différence de masse est transformée en énergie selon la relation d’Einstein.</a:t>
            </a:r>
            <a:endParaRPr lang="en-US" sz="1800" dirty="0"/>
          </a:p>
        </p:txBody>
      </p:sp>
      <p:pic>
        <p:nvPicPr>
          <p:cNvPr id="17" name="Schéma de fission" descr="Schéma de la fission d’un noyau d’uranium 235">    </p:cNvPr>
          <p:cNvPicPr>
            <a:picLocks noChangeAspect="1"/>
          </p:cNvPicPr>
          <p:nvPr/>
        </p:nvPicPr>
        <p:blipFill>
          <a:blip r:embed="rId1"/>
          <a:stretch>
            <a:fillRect/>
          </a:stretch>
        </p:blipFill>
        <p:spPr>
          <a:xfrm>
            <a:off x="5989320" y="1325880"/>
            <a:ext cx="5650992" cy="3242196"/>
          </a:xfrm>
          <a:prstGeom prst="rect">
            <a:avLst/>
          </a:prstGeom>
        </p:spPr>
      </p:pic>
      <p:sp>
        <p:nvSpPr>
          <p:cNvPr id="18" name="Légende 1"/>
          <p:cNvSpPr txBox="1"/>
          <p:nvPr/>
        </p:nvSpPr>
        <p:spPr>
          <a:xfrm>
            <a:off x="5886987" y="2330206"/>
            <a:ext cx="914400" cy="292608"/>
          </a:xfrm>
          <a:prstGeom prst="rect">
            <a:avLst/>
          </a:prstGeom>
          <a:noFill/>
          <a:ln/>
        </p:spPr>
        <p:txBody>
          <a:bodyPr wrap="square" lIns="0" tIns="0" rIns="0" bIns="0" rtlCol="0" anchor="ctr"/>
          <a:lstStyle/>
          <a:p>
            <a:pPr algn="ctr" indent="0" marL="0">
              <a:buNone/>
            </a:pPr>
            <a:r>
              <a:rPr lang="en-US" sz="1200" dirty="0">
                <a:solidFill>
                  <a:srgbClr val="FFFFFF"/>
                </a:solidFill>
              </a:rPr>
              <a:t>Neutron</a:t>
            </a:r>
            <a:endParaRPr lang="en-US" sz="1200" dirty="0"/>
          </a:p>
        </p:txBody>
      </p:sp>
      <p:sp>
        <p:nvSpPr>
          <p:cNvPr id="19" name="Légende 2"/>
          <p:cNvSpPr txBox="1"/>
          <p:nvPr/>
        </p:nvSpPr>
        <p:spPr>
          <a:xfrm>
            <a:off x="6599254" y="3706661"/>
            <a:ext cx="1737360" cy="292608"/>
          </a:xfrm>
          <a:prstGeom prst="rect">
            <a:avLst/>
          </a:prstGeom>
          <a:noFill/>
          <a:ln/>
        </p:spPr>
        <p:txBody>
          <a:bodyPr wrap="square" lIns="0" tIns="0" rIns="0" bIns="0" rtlCol="0" anchor="ctr"/>
          <a:lstStyle/>
          <a:p>
            <a:pPr algn="ctr" indent="0" marL="0">
              <a:buNone/>
            </a:pPr>
            <a:r>
              <a:rPr lang="en-US" sz="1200" dirty="0">
                <a:solidFill>
                  <a:srgbClr val="FFFFFF"/>
                </a:solidFill>
              </a:rPr>
              <a:t>Noyau d’uranium 235</a:t>
            </a:r>
            <a:endParaRPr lang="en-US" sz="1200" dirty="0"/>
          </a:p>
        </p:txBody>
      </p:sp>
      <p:sp>
        <p:nvSpPr>
          <p:cNvPr id="20" name="Légende 3"/>
          <p:cNvSpPr txBox="1"/>
          <p:nvPr/>
        </p:nvSpPr>
        <p:spPr>
          <a:xfrm>
            <a:off x="9575456" y="1448415"/>
            <a:ext cx="914400" cy="292608"/>
          </a:xfrm>
          <a:prstGeom prst="rect">
            <a:avLst/>
          </a:prstGeom>
          <a:noFill/>
          <a:ln/>
        </p:spPr>
        <p:txBody>
          <a:bodyPr wrap="square" lIns="0" tIns="0" rIns="0" bIns="0" rtlCol="0" anchor="ctr"/>
          <a:lstStyle/>
          <a:p>
            <a:pPr algn="ctr" indent="0" marL="0">
              <a:buNone/>
            </a:pPr>
            <a:r>
              <a:rPr lang="en-US" sz="1200" dirty="0">
                <a:solidFill>
                  <a:srgbClr val="FFFFFF"/>
                </a:solidFill>
              </a:rPr>
              <a:t>Neutron</a:t>
            </a:r>
            <a:endParaRPr lang="en-US" sz="1200" dirty="0"/>
          </a:p>
        </p:txBody>
      </p:sp>
      <p:sp>
        <p:nvSpPr>
          <p:cNvPr id="21" name="Légende 4"/>
          <p:cNvSpPr txBox="1"/>
          <p:nvPr/>
        </p:nvSpPr>
        <p:spPr>
          <a:xfrm>
            <a:off x="10164195" y="1781775"/>
            <a:ext cx="1005840" cy="292608"/>
          </a:xfrm>
          <a:prstGeom prst="rect">
            <a:avLst/>
          </a:prstGeom>
          <a:noFill/>
          <a:ln/>
        </p:spPr>
        <p:txBody>
          <a:bodyPr wrap="square" lIns="0" tIns="0" rIns="0" bIns="0" rtlCol="0" anchor="ctr"/>
          <a:lstStyle/>
          <a:p>
            <a:pPr algn="ctr" indent="0" marL="0">
              <a:buNone/>
            </a:pPr>
            <a:r>
              <a:rPr lang="en-US" sz="1200" dirty="0">
                <a:solidFill>
                  <a:srgbClr val="FFFFFF"/>
                </a:solidFill>
              </a:rPr>
              <a:t>Noyau fils</a:t>
            </a:r>
            <a:endParaRPr lang="en-US" sz="1200" dirty="0"/>
          </a:p>
        </p:txBody>
      </p:sp>
      <p:sp>
        <p:nvSpPr>
          <p:cNvPr id="22" name="Légende 5"/>
          <p:cNvSpPr txBox="1"/>
          <p:nvPr/>
        </p:nvSpPr>
        <p:spPr>
          <a:xfrm>
            <a:off x="10865882" y="2330206"/>
            <a:ext cx="914400" cy="292608"/>
          </a:xfrm>
          <a:prstGeom prst="rect">
            <a:avLst/>
          </a:prstGeom>
          <a:noFill/>
          <a:ln/>
        </p:spPr>
        <p:txBody>
          <a:bodyPr wrap="square" lIns="0" tIns="0" rIns="0" bIns="0" rtlCol="0" anchor="ctr"/>
          <a:lstStyle/>
          <a:p>
            <a:pPr algn="ctr" indent="0" marL="0">
              <a:buNone/>
            </a:pPr>
            <a:r>
              <a:rPr lang="en-US" sz="1200" dirty="0">
                <a:solidFill>
                  <a:srgbClr val="FFFFFF"/>
                </a:solidFill>
              </a:rPr>
              <a:t>Neutron</a:t>
            </a:r>
            <a:endParaRPr lang="en-US" sz="1200" dirty="0"/>
          </a:p>
        </p:txBody>
      </p:sp>
      <p:sp>
        <p:nvSpPr>
          <p:cNvPr id="23" name="Légende 6"/>
          <p:cNvSpPr txBox="1"/>
          <p:nvPr/>
        </p:nvSpPr>
        <p:spPr>
          <a:xfrm>
            <a:off x="10164195" y="3867964"/>
            <a:ext cx="1005840" cy="292608"/>
          </a:xfrm>
          <a:prstGeom prst="rect">
            <a:avLst/>
          </a:prstGeom>
          <a:noFill/>
          <a:ln/>
        </p:spPr>
        <p:txBody>
          <a:bodyPr wrap="square" lIns="0" tIns="0" rIns="0" bIns="0" rtlCol="0" anchor="ctr"/>
          <a:lstStyle/>
          <a:p>
            <a:pPr algn="ctr" indent="0" marL="0">
              <a:buNone/>
            </a:pPr>
            <a:r>
              <a:rPr lang="en-US" sz="1200" dirty="0">
                <a:solidFill>
                  <a:srgbClr val="FFFFFF"/>
                </a:solidFill>
              </a:rPr>
              <a:t>Noyau fils</a:t>
            </a:r>
            <a:endParaRPr lang="en-US" sz="1200" dirty="0"/>
          </a:p>
        </p:txBody>
      </p:sp>
      <p:sp>
        <p:nvSpPr>
          <p:cNvPr id="24" name="Légende 7"/>
          <p:cNvSpPr txBox="1"/>
          <p:nvPr/>
        </p:nvSpPr>
        <p:spPr>
          <a:xfrm>
            <a:off x="9575456" y="4255092"/>
            <a:ext cx="914400" cy="292608"/>
          </a:xfrm>
          <a:prstGeom prst="rect">
            <a:avLst/>
          </a:prstGeom>
          <a:noFill/>
          <a:ln/>
        </p:spPr>
        <p:txBody>
          <a:bodyPr wrap="square" lIns="0" tIns="0" rIns="0" bIns="0" rtlCol="0" anchor="ctr"/>
          <a:lstStyle/>
          <a:p>
            <a:pPr algn="ctr" indent="0" marL="0">
              <a:buNone/>
            </a:pPr>
            <a:r>
              <a:rPr lang="en-US" sz="1200" dirty="0">
                <a:solidFill>
                  <a:srgbClr val="FFFFFF"/>
                </a:solidFill>
              </a:rPr>
              <a:t>Neutron</a:t>
            </a:r>
            <a:endParaRPr lang="en-US" sz="1200" dirty="0"/>
          </a:p>
        </p:txBody>
      </p:sp>
      <p:sp>
        <p:nvSpPr>
          <p:cNvPr id="25" name="Légende 1"/>
          <p:cNvSpPr txBox="1"/>
          <p:nvPr/>
        </p:nvSpPr>
        <p:spPr>
          <a:xfrm>
            <a:off x="8650650" y="3706661"/>
            <a:ext cx="914400" cy="292608"/>
          </a:xfrm>
          <a:prstGeom prst="rect">
            <a:avLst/>
          </a:prstGeom>
          <a:noFill/>
          <a:ln/>
        </p:spPr>
        <p:txBody>
          <a:bodyPr wrap="square" lIns="0" tIns="0" rIns="0" bIns="0" rtlCol="0" anchor="ctr"/>
          <a:lstStyle/>
          <a:p>
            <a:pPr algn="ctr" indent="0" marL="0">
              <a:buNone/>
            </a:pPr>
            <a:r>
              <a:rPr lang="en-US" sz="1300" b="1" dirty="0">
                <a:solidFill>
                  <a:srgbClr val="F9C752"/>
                </a:solidFill>
              </a:rPr>
              <a:t>Énergie</a:t>
            </a:r>
            <a:endParaRPr lang="en-US" sz="1300" dirty="0"/>
          </a:p>
        </p:txBody>
      </p:sp>
      <p:sp>
        <p:nvSpPr>
          <p:cNvPr id="26" name="Cadre formule"/>
          <p:cNvSpPr/>
          <p:nvPr/>
        </p:nvSpPr>
        <p:spPr>
          <a:xfrm>
            <a:off x="5989320" y="4846320"/>
            <a:ext cx="5650992" cy="1417320"/>
          </a:xfrm>
          <a:prstGeom prst="roundRect">
            <a:avLst>
              <a:gd name="adj" fmla="val 9677"/>
            </a:avLst>
          </a:prstGeom>
          <a:solidFill>
            <a:schemeClr val="bg2"/>
          </a:solidFill>
          <a:ln w="9525">
            <a:solidFill>
              <a:srgbClr val="D8E6F5"/>
            </a:solidFill>
            <a:prstDash val="solid"/>
          </a:ln>
        </p:spPr>
      </p:sp>
      <p:pic>
        <p:nvPicPr>
          <p:cNvPr id="27" name="Einstein" descr="Portrait d’Albert Einstein">    </p:cNvPr>
          <p:cNvPicPr>
            <a:picLocks noChangeAspect="1"/>
          </p:cNvPicPr>
          <p:nvPr/>
        </p:nvPicPr>
        <p:blipFill>
          <a:blip r:embed="rId2"/>
          <a:stretch>
            <a:fillRect/>
          </a:stretch>
        </p:blipFill>
        <p:spPr>
          <a:xfrm>
            <a:off x="6153912" y="4956048"/>
            <a:ext cx="1197864" cy="1197864"/>
          </a:xfrm>
          <a:prstGeom prst="rect">
            <a:avLst/>
          </a:prstGeom>
        </p:spPr>
      </p:pic>
      <p:sp>
        <p:nvSpPr>
          <p:cNvPr id="28" name="Formule"/>
          <p:cNvSpPr txBox="1"/>
          <p:nvPr/>
        </p:nvSpPr>
        <p:spPr>
          <a:xfrm>
            <a:off x="7589520" y="4937760"/>
            <a:ext cx="2651760" cy="868680"/>
          </a:xfrm>
          <a:prstGeom prst="rect">
            <a:avLst/>
          </a:prstGeom>
          <a:noFill/>
          <a:ln/>
        </p:spPr>
        <p:txBody>
          <a:bodyPr wrap="square" lIns="0" tIns="0" rIns="0" bIns="0" rtlCol="0" anchor="ctr"/>
          <a:lstStyle/>
          <a:p>
            <a:pPr indent="0" marL="0">
              <a:buNone/>
            </a:pPr>
            <a:r>
              <a:rPr lang="en-US" sz="4400" b="1" dirty="0">
                <a:solidFill>
                  <a:schemeClr val="tx2"/>
                </a:solidFill>
              </a:rPr>
              <a:t>E = mc²</a:t>
            </a:r>
            <a:endParaRPr lang="en-US" sz="4400" dirty="0"/>
          </a:p>
        </p:txBody>
      </p:sp>
      <p:sp>
        <p:nvSpPr>
          <p:cNvPr id="29" name="Légende formule"/>
          <p:cNvSpPr txBox="1"/>
          <p:nvPr/>
        </p:nvSpPr>
        <p:spPr>
          <a:xfrm>
            <a:off x="7589520" y="5760720"/>
            <a:ext cx="3840480" cy="365760"/>
          </a:xfrm>
          <a:prstGeom prst="rect">
            <a:avLst/>
          </a:prstGeom>
          <a:noFill/>
          <a:ln/>
        </p:spPr>
        <p:txBody>
          <a:bodyPr wrap="square" lIns="0" tIns="0" rIns="0" bIns="0" rtlCol="0" anchor="ctr"/>
          <a:lstStyle/>
          <a:p>
            <a:pPr indent="0" marL="0">
              <a:buNone/>
            </a:pPr>
            <a:r>
              <a:rPr lang="en-US" sz="1400" dirty="0">
                <a:solidFill>
                  <a:schemeClr val="accent6"/>
                </a:solidFill>
              </a:rPr>
              <a:t>Relation d’Einstein</a:t>
            </a:r>
            <a:endParaRPr lang="en-US" sz="14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200" b="1" dirty="0">
                <a:solidFill>
                  <a:schemeClr val="tx2"/>
                </a:solidFill>
              </a:rPr>
              <a:t>Combustibles et réaction en chaîne</a:t>
            </a:r>
            <a:endParaRPr lang="en-US" sz="3200" dirty="0"/>
          </a:p>
        </p:txBody>
      </p:sp>
      <p:sp>
        <p:nvSpPr>
          <p:cNvPr id="3" name="Présentation"/>
          <p:cNvSpPr/>
          <p:nvPr/>
        </p:nvSpPr>
        <p:spPr>
          <a:xfrm>
            <a:off x="9372600" y="457200"/>
            <a:ext cx="2267712" cy="475488"/>
          </a:xfrm>
          <a:prstGeom prst="roundRect">
            <a:avLst>
              <a:gd name="adj" fmla="val 50000"/>
            </a:avLst>
          </a:prstGeom>
          <a:solidFill>
            <a:schemeClr val="bg2"/>
          </a:solidFill>
          <a:ln w="12700">
            <a:solidFill>
              <a:schemeClr val="bg2"/>
            </a:solidFill>
            <a:prstDash val="solid"/>
          </a:ln>
        </p:spPr>
      </p:sp>
      <p:sp>
        <p:nvSpPr>
          <p:cNvPr id="4" name="Nom orateur"/>
          <p:cNvSpPr txBox="1"/>
          <p:nvPr/>
        </p:nvSpPr>
        <p:spPr>
          <a:xfrm>
            <a:off x="9372600" y="457200"/>
            <a:ext cx="2267712" cy="475488"/>
          </a:xfrm>
          <a:prstGeom prst="rect">
            <a:avLst/>
          </a:prstGeom>
          <a:noFill/>
          <a:ln/>
        </p:spPr>
        <p:txBody>
          <a:bodyPr wrap="square" lIns="0" tIns="0" rIns="0" bIns="0" rtlCol="0" anchor="ctr"/>
          <a:lstStyle/>
          <a:p>
            <a:pPr algn="ctr" indent="0" marL="0">
              <a:buNone/>
            </a:pPr>
            <a:r>
              <a:rPr lang="en-US" sz="1400" dirty="0">
                <a:solidFill>
                  <a:schemeClr val="accent6"/>
                </a:solidFill>
              </a:rPr>
              <a:t>Présentateur : </a:t>
            </a:r>
            <a:pPr algn="ctr" indent="0" marL="0">
              <a:buNone/>
            </a:pPr>
            <a:r>
              <a:rPr lang="en-US" sz="1400" b="1" dirty="0">
                <a:solidFill>
                  <a:schemeClr val="tx2"/>
                </a:solidFill>
              </a:rPr>
              <a:t>Tom</a:t>
            </a:r>
            <a:endParaRPr lang="en-US" sz="1400" dirty="0"/>
          </a:p>
        </p:txBody>
      </p:sp>
      <p:sp>
        <p:nvSpPr>
          <p:cNvPr id="5" name="Cadre matériau fissile"/>
          <p:cNvSpPr/>
          <p:nvPr/>
        </p:nvSpPr>
        <p:spPr>
          <a:xfrm>
            <a:off x="548640" y="1325880"/>
            <a:ext cx="4206240" cy="1234440"/>
          </a:xfrm>
          <a:prstGeom prst="roundRect">
            <a:avLst>
              <a:gd name="adj" fmla="val 11111"/>
            </a:avLst>
          </a:prstGeom>
          <a:solidFill>
            <a:schemeClr val="bg2"/>
          </a:solidFill>
          <a:ln w="9525">
            <a:solidFill>
              <a:srgbClr val="D8E6F5"/>
            </a:solidFill>
            <a:prstDash val="solid"/>
          </a:ln>
        </p:spPr>
      </p:sp>
      <p:sp>
        <p:nvSpPr>
          <p:cNvPr id="6" name="Matériau fissile"/>
          <p:cNvSpPr txBox="1"/>
          <p:nvPr/>
        </p:nvSpPr>
        <p:spPr>
          <a:xfrm>
            <a:off x="731520" y="1389888"/>
            <a:ext cx="3840480" cy="1106424"/>
          </a:xfrm>
          <a:prstGeom prst="rect">
            <a:avLst/>
          </a:prstGeom>
          <a:noFill/>
          <a:ln/>
        </p:spPr>
        <p:txBody>
          <a:bodyPr wrap="square" lIns="0" tIns="0" rIns="0" bIns="0" rtlCol="0" anchor="ctr"/>
          <a:lstStyle/>
          <a:p>
            <a:pPr indent="0" marL="0">
              <a:spcAft>
                <a:spcPts val="300"/>
              </a:spcAft>
              <a:buNone/>
            </a:pPr>
            <a:r>
              <a:rPr lang="en-US" sz="1800" b="1" dirty="0">
                <a:solidFill>
                  <a:schemeClr val="tx2"/>
                </a:solidFill>
              </a:rPr>
              <a:t>Matériau fissile</a:t>
            </a:r>
            <a:endParaRPr lang="en-US" sz="1800" dirty="0"/>
          </a:p>
          <a:p>
            <a:pPr indent="0" marL="0">
              <a:spcAft>
                <a:spcPts val="300"/>
              </a:spcAft>
              <a:buNone/>
            </a:pPr>
            <a:r>
              <a:rPr lang="en-US" sz="1500" dirty="0">
                <a:solidFill>
                  <a:schemeClr val="tx1"/>
                </a:solidFill>
              </a:rPr>
              <a:t>Matériau dont les noyaux peuvent subir une fission après capture d’un neutron.</a:t>
            </a:r>
            <a:endParaRPr lang="en-US" sz="1800" dirty="0"/>
          </a:p>
        </p:txBody>
      </p:sp>
      <p:sp>
        <p:nvSpPr>
          <p:cNvPr id="7" name="Cadre noyaux fissiles"/>
          <p:cNvSpPr/>
          <p:nvPr/>
        </p:nvSpPr>
        <p:spPr>
          <a:xfrm>
            <a:off x="548640" y="2743200"/>
            <a:ext cx="4206240" cy="3520440"/>
          </a:xfrm>
          <a:prstGeom prst="roundRect">
            <a:avLst>
              <a:gd name="adj" fmla="val 3896"/>
            </a:avLst>
          </a:prstGeom>
          <a:solidFill>
            <a:srgbClr val="FEFEFC"/>
          </a:solidFill>
          <a:ln w="9525">
            <a:solidFill>
              <a:srgbClr val="D8E6F5"/>
            </a:solidFill>
            <a:prstDash val="solid"/>
          </a:ln>
        </p:spPr>
      </p:sp>
      <p:pic>
        <p:nvPicPr>
          <p:cNvPr id="8" name="Noyaux fissiles" descr="Les trois noyaux fissiles : uranium 235, plutonium 239, uranium 233">    </p:cNvPr>
          <p:cNvPicPr>
            <a:picLocks noChangeAspect="1"/>
          </p:cNvPicPr>
          <p:nvPr/>
        </p:nvPicPr>
        <p:blipFill>
          <a:blip r:embed="rId1"/>
          <a:stretch>
            <a:fillRect/>
          </a:stretch>
        </p:blipFill>
        <p:spPr>
          <a:xfrm>
            <a:off x="640080" y="2816352"/>
            <a:ext cx="4023360" cy="2682240"/>
          </a:xfrm>
          <a:prstGeom prst="rect">
            <a:avLst/>
          </a:prstGeom>
        </p:spPr>
      </p:pic>
      <p:sp>
        <p:nvSpPr>
          <p:cNvPr id="9" name="Note uranium"/>
          <p:cNvSpPr txBox="1"/>
          <p:nvPr/>
        </p:nvSpPr>
        <p:spPr>
          <a:xfrm>
            <a:off x="731520" y="5577840"/>
            <a:ext cx="3840480" cy="548640"/>
          </a:xfrm>
          <a:prstGeom prst="rect">
            <a:avLst/>
          </a:prstGeom>
          <a:noFill/>
          <a:ln/>
        </p:spPr>
        <p:txBody>
          <a:bodyPr wrap="square" lIns="0" tIns="0" rIns="0" bIns="0" rtlCol="0" anchor="ctr"/>
          <a:lstStyle/>
          <a:p>
            <a:pPr indent="0" marL="0">
              <a:buNone/>
            </a:pPr>
            <a:r>
              <a:rPr lang="en-US" sz="1400" i="1" dirty="0">
                <a:solidFill>
                  <a:schemeClr val="tx1"/>
                </a:solidFill>
              </a:rPr>
              <a:t>L’uranium 235 est le plus utilisé en centrale.</a:t>
            </a:r>
            <a:endParaRPr lang="en-US" sz="1400" dirty="0"/>
          </a:p>
        </p:txBody>
      </p:sp>
      <p:pic>
        <p:nvPicPr>
          <p:cNvPr id="10" name="Réaction en chaîne" descr="Schéma d’une réaction en chaîne">    </p:cNvPr>
          <p:cNvPicPr>
            <a:picLocks noChangeAspect="1"/>
          </p:cNvPicPr>
          <p:nvPr/>
        </p:nvPicPr>
        <p:blipFill>
          <a:blip r:embed="rId2"/>
          <a:stretch>
            <a:fillRect/>
          </a:stretch>
        </p:blipFill>
        <p:spPr>
          <a:xfrm>
            <a:off x="4983480" y="1280160"/>
            <a:ext cx="6400800" cy="3635612"/>
          </a:xfrm>
          <a:prstGeom prst="rect">
            <a:avLst/>
          </a:prstGeom>
        </p:spPr>
      </p:pic>
      <p:sp>
        <p:nvSpPr>
          <p:cNvPr id="11" name="Légende 1"/>
          <p:cNvSpPr txBox="1"/>
          <p:nvPr/>
        </p:nvSpPr>
        <p:spPr>
          <a:xfrm>
            <a:off x="4858603" y="3320531"/>
            <a:ext cx="822960" cy="292608"/>
          </a:xfrm>
          <a:prstGeom prst="rect">
            <a:avLst/>
          </a:prstGeom>
          <a:noFill/>
          <a:ln/>
        </p:spPr>
        <p:txBody>
          <a:bodyPr wrap="square" lIns="0" tIns="0" rIns="0" bIns="0" rtlCol="0" anchor="ctr"/>
          <a:lstStyle/>
          <a:p>
            <a:pPr algn="ctr" indent="0" marL="0">
              <a:buNone/>
            </a:pPr>
            <a:r>
              <a:rPr lang="en-US" sz="1100" dirty="0">
                <a:solidFill>
                  <a:schemeClr val="tx1"/>
                </a:solidFill>
              </a:rPr>
              <a:t>Neutron</a:t>
            </a:r>
            <a:endParaRPr lang="en-US" sz="1100" dirty="0"/>
          </a:p>
        </p:txBody>
      </p:sp>
      <p:sp>
        <p:nvSpPr>
          <p:cNvPr id="12" name="Légende 2"/>
          <p:cNvSpPr txBox="1"/>
          <p:nvPr/>
        </p:nvSpPr>
        <p:spPr>
          <a:xfrm>
            <a:off x="5644941" y="3787587"/>
            <a:ext cx="1097280" cy="292608"/>
          </a:xfrm>
          <a:prstGeom prst="rect">
            <a:avLst/>
          </a:prstGeom>
          <a:noFill/>
          <a:ln/>
        </p:spPr>
        <p:txBody>
          <a:bodyPr wrap="square" lIns="0" tIns="0" rIns="0" bIns="0" rtlCol="0" anchor="ctr"/>
          <a:lstStyle/>
          <a:p>
            <a:pPr algn="ctr" indent="0" marL="0">
              <a:buNone/>
            </a:pPr>
            <a:r>
              <a:rPr lang="en-US" sz="1100" dirty="0">
                <a:solidFill>
                  <a:schemeClr val="tx1"/>
                </a:solidFill>
              </a:rPr>
              <a:t>Uranium 235</a:t>
            </a:r>
            <a:endParaRPr lang="en-US" sz="1100" dirty="0"/>
          </a:p>
        </p:txBody>
      </p:sp>
      <p:sp>
        <p:nvSpPr>
          <p:cNvPr id="13" name="Légende 3"/>
          <p:cNvSpPr txBox="1"/>
          <p:nvPr/>
        </p:nvSpPr>
        <p:spPr>
          <a:xfrm>
            <a:off x="8415437" y="1595605"/>
            <a:ext cx="1097280" cy="292608"/>
          </a:xfrm>
          <a:prstGeom prst="rect">
            <a:avLst/>
          </a:prstGeom>
          <a:noFill/>
          <a:ln/>
        </p:spPr>
        <p:txBody>
          <a:bodyPr wrap="square" lIns="0" tIns="0" rIns="0" bIns="0" rtlCol="0" anchor="ctr"/>
          <a:lstStyle/>
          <a:p>
            <a:pPr algn="ctr" indent="0" marL="0">
              <a:buNone/>
            </a:pPr>
            <a:r>
              <a:rPr lang="en-US" sz="1100" dirty="0">
                <a:solidFill>
                  <a:schemeClr val="tx1"/>
                </a:solidFill>
              </a:rPr>
              <a:t>Uranium 235</a:t>
            </a:r>
            <a:endParaRPr lang="en-US" sz="1100" dirty="0"/>
          </a:p>
        </p:txBody>
      </p:sp>
      <p:sp>
        <p:nvSpPr>
          <p:cNvPr id="14" name="Légende 4"/>
          <p:cNvSpPr txBox="1"/>
          <p:nvPr/>
        </p:nvSpPr>
        <p:spPr>
          <a:xfrm>
            <a:off x="8415437" y="4318334"/>
            <a:ext cx="1097280" cy="292608"/>
          </a:xfrm>
          <a:prstGeom prst="rect">
            <a:avLst/>
          </a:prstGeom>
          <a:noFill/>
          <a:ln/>
        </p:spPr>
        <p:txBody>
          <a:bodyPr wrap="square" lIns="0" tIns="0" rIns="0" bIns="0" rtlCol="0" anchor="ctr"/>
          <a:lstStyle/>
          <a:p>
            <a:pPr algn="ctr" indent="0" marL="0">
              <a:buNone/>
            </a:pPr>
            <a:r>
              <a:rPr lang="en-US" sz="1100" dirty="0">
                <a:solidFill>
                  <a:schemeClr val="tx1"/>
                </a:solidFill>
              </a:rPr>
              <a:t>Uranium 235</a:t>
            </a:r>
            <a:endParaRPr lang="en-US" sz="1100" dirty="0"/>
          </a:p>
        </p:txBody>
      </p:sp>
      <p:sp>
        <p:nvSpPr>
          <p:cNvPr id="15" name="Légende 5"/>
          <p:cNvSpPr txBox="1"/>
          <p:nvPr/>
        </p:nvSpPr>
        <p:spPr>
          <a:xfrm>
            <a:off x="6876273" y="2285575"/>
            <a:ext cx="1097280" cy="292608"/>
          </a:xfrm>
          <a:prstGeom prst="rect">
            <a:avLst/>
          </a:prstGeom>
          <a:noFill/>
          <a:ln/>
        </p:spPr>
        <p:txBody>
          <a:bodyPr wrap="square" lIns="0" tIns="0" rIns="0" bIns="0" rtlCol="0" anchor="ctr"/>
          <a:lstStyle/>
          <a:p>
            <a:pPr algn="ctr" indent="0" marL="0">
              <a:buNone/>
            </a:pPr>
            <a:r>
              <a:rPr lang="en-US" sz="1100" dirty="0">
                <a:solidFill>
                  <a:schemeClr val="tx1"/>
                </a:solidFill>
              </a:rPr>
              <a:t>Noyaux fils</a:t>
            </a:r>
            <a:endParaRPr lang="en-US" sz="1100" dirty="0"/>
          </a:p>
        </p:txBody>
      </p:sp>
      <p:sp>
        <p:nvSpPr>
          <p:cNvPr id="16" name="Légende 6"/>
          <p:cNvSpPr txBox="1"/>
          <p:nvPr/>
        </p:nvSpPr>
        <p:spPr>
          <a:xfrm>
            <a:off x="9561849" y="1356769"/>
            <a:ext cx="1097280" cy="292608"/>
          </a:xfrm>
          <a:prstGeom prst="rect">
            <a:avLst/>
          </a:prstGeom>
          <a:noFill/>
          <a:ln/>
        </p:spPr>
        <p:txBody>
          <a:bodyPr wrap="square" lIns="0" tIns="0" rIns="0" bIns="0" rtlCol="0" anchor="ctr"/>
          <a:lstStyle/>
          <a:p>
            <a:pPr algn="ctr" indent="0" marL="0">
              <a:buNone/>
            </a:pPr>
            <a:r>
              <a:rPr lang="en-US" sz="1100" dirty="0">
                <a:solidFill>
                  <a:schemeClr val="tx1"/>
                </a:solidFill>
              </a:rPr>
              <a:t>Noyaux fils</a:t>
            </a:r>
            <a:endParaRPr lang="en-US" sz="1100" dirty="0"/>
          </a:p>
        </p:txBody>
      </p:sp>
      <p:sp>
        <p:nvSpPr>
          <p:cNvPr id="17" name="Légende 7"/>
          <p:cNvSpPr txBox="1"/>
          <p:nvPr/>
        </p:nvSpPr>
        <p:spPr>
          <a:xfrm>
            <a:off x="9561849" y="4583707"/>
            <a:ext cx="1097280" cy="292608"/>
          </a:xfrm>
          <a:prstGeom prst="rect">
            <a:avLst/>
          </a:prstGeom>
          <a:noFill/>
          <a:ln/>
        </p:spPr>
        <p:txBody>
          <a:bodyPr wrap="square" lIns="0" tIns="0" rIns="0" bIns="0" rtlCol="0" anchor="ctr"/>
          <a:lstStyle/>
          <a:p>
            <a:pPr algn="ctr" indent="0" marL="0">
              <a:buNone/>
            </a:pPr>
            <a:r>
              <a:rPr lang="en-US" sz="1100" dirty="0">
                <a:solidFill>
                  <a:schemeClr val="tx1"/>
                </a:solidFill>
              </a:rPr>
              <a:t>Noyaux fils</a:t>
            </a:r>
            <a:endParaRPr lang="en-US" sz="1100" dirty="0"/>
          </a:p>
        </p:txBody>
      </p:sp>
      <p:sp>
        <p:nvSpPr>
          <p:cNvPr id="18" name="Légende 8"/>
          <p:cNvSpPr txBox="1"/>
          <p:nvPr/>
        </p:nvSpPr>
        <p:spPr>
          <a:xfrm>
            <a:off x="7814860" y="3331146"/>
            <a:ext cx="822960" cy="292608"/>
          </a:xfrm>
          <a:prstGeom prst="rect">
            <a:avLst/>
          </a:prstGeom>
          <a:noFill/>
          <a:ln/>
        </p:spPr>
        <p:txBody>
          <a:bodyPr wrap="square" lIns="0" tIns="0" rIns="0" bIns="0" rtlCol="0" anchor="ctr"/>
          <a:lstStyle/>
          <a:p>
            <a:pPr algn="ctr" indent="0" marL="0">
              <a:buNone/>
            </a:pPr>
            <a:r>
              <a:rPr lang="en-US" sz="1100" dirty="0">
                <a:solidFill>
                  <a:schemeClr val="tx1"/>
                </a:solidFill>
              </a:rPr>
              <a:t>Neutrons</a:t>
            </a:r>
            <a:endParaRPr lang="en-US" sz="1100" dirty="0"/>
          </a:p>
        </p:txBody>
      </p:sp>
      <p:sp>
        <p:nvSpPr>
          <p:cNvPr id="19" name="Légende 9"/>
          <p:cNvSpPr txBox="1"/>
          <p:nvPr/>
        </p:nvSpPr>
        <p:spPr>
          <a:xfrm>
            <a:off x="10495128" y="2402340"/>
            <a:ext cx="822960" cy="292608"/>
          </a:xfrm>
          <a:prstGeom prst="rect">
            <a:avLst/>
          </a:prstGeom>
          <a:noFill/>
          <a:ln/>
        </p:spPr>
        <p:txBody>
          <a:bodyPr wrap="square" lIns="0" tIns="0" rIns="0" bIns="0" rtlCol="0" anchor="ctr"/>
          <a:lstStyle/>
          <a:p>
            <a:pPr algn="ctr" indent="0" marL="0">
              <a:buNone/>
            </a:pPr>
            <a:r>
              <a:rPr lang="en-US" sz="1100" dirty="0">
                <a:solidFill>
                  <a:schemeClr val="tx1"/>
                </a:solidFill>
              </a:rPr>
              <a:t>Neutrons</a:t>
            </a:r>
            <a:endParaRPr lang="en-US" sz="1100" dirty="0"/>
          </a:p>
        </p:txBody>
      </p:sp>
      <p:sp>
        <p:nvSpPr>
          <p:cNvPr id="20" name="Légende 10"/>
          <p:cNvSpPr txBox="1"/>
          <p:nvPr/>
        </p:nvSpPr>
        <p:spPr>
          <a:xfrm>
            <a:off x="10495128" y="3999886"/>
            <a:ext cx="822960" cy="292608"/>
          </a:xfrm>
          <a:prstGeom prst="rect">
            <a:avLst/>
          </a:prstGeom>
          <a:noFill/>
          <a:ln/>
        </p:spPr>
        <p:txBody>
          <a:bodyPr wrap="square" lIns="0" tIns="0" rIns="0" bIns="0" rtlCol="0" anchor="ctr"/>
          <a:lstStyle/>
          <a:p>
            <a:pPr algn="ctr" indent="0" marL="0">
              <a:buNone/>
            </a:pPr>
            <a:r>
              <a:rPr lang="en-US" sz="1100" dirty="0">
                <a:solidFill>
                  <a:schemeClr val="tx1"/>
                </a:solidFill>
              </a:rPr>
              <a:t>Neutrons</a:t>
            </a:r>
            <a:endParaRPr lang="en-US" sz="1100" dirty="0"/>
          </a:p>
        </p:txBody>
      </p:sp>
      <p:sp>
        <p:nvSpPr>
          <p:cNvPr id="21" name="Légende 1"/>
          <p:cNvSpPr txBox="1"/>
          <p:nvPr/>
        </p:nvSpPr>
        <p:spPr>
          <a:xfrm>
            <a:off x="7008125" y="3134769"/>
            <a:ext cx="822960" cy="292608"/>
          </a:xfrm>
          <a:prstGeom prst="rect">
            <a:avLst/>
          </a:prstGeom>
          <a:noFill/>
          <a:ln/>
        </p:spPr>
        <p:txBody>
          <a:bodyPr wrap="square" lIns="0" tIns="0" rIns="0" bIns="0" rtlCol="0" anchor="ctr"/>
          <a:lstStyle/>
          <a:p>
            <a:pPr algn="ctr" indent="0" marL="0">
              <a:buNone/>
            </a:pPr>
            <a:r>
              <a:rPr lang="en-US" sz="1200" b="1" dirty="0">
                <a:solidFill>
                  <a:schemeClr val="tx2"/>
                </a:solidFill>
              </a:rPr>
              <a:t>Énergie</a:t>
            </a:r>
            <a:endParaRPr lang="en-US" sz="1200" dirty="0"/>
          </a:p>
        </p:txBody>
      </p:sp>
      <p:sp>
        <p:nvSpPr>
          <p:cNvPr id="22" name="Légende 2"/>
          <p:cNvSpPr txBox="1"/>
          <p:nvPr/>
        </p:nvSpPr>
        <p:spPr>
          <a:xfrm>
            <a:off x="9704316" y="2195349"/>
            <a:ext cx="822960" cy="292608"/>
          </a:xfrm>
          <a:prstGeom prst="rect">
            <a:avLst/>
          </a:prstGeom>
          <a:noFill/>
          <a:ln/>
        </p:spPr>
        <p:txBody>
          <a:bodyPr wrap="square" lIns="0" tIns="0" rIns="0" bIns="0" rtlCol="0" anchor="ctr"/>
          <a:lstStyle/>
          <a:p>
            <a:pPr algn="ctr" indent="0" marL="0">
              <a:buNone/>
            </a:pPr>
            <a:r>
              <a:rPr lang="en-US" sz="1200" b="1" dirty="0">
                <a:solidFill>
                  <a:schemeClr val="tx2"/>
                </a:solidFill>
              </a:rPr>
              <a:t>Énergie</a:t>
            </a:r>
            <a:endParaRPr lang="en-US" sz="1200" dirty="0"/>
          </a:p>
        </p:txBody>
      </p:sp>
      <p:sp>
        <p:nvSpPr>
          <p:cNvPr id="23" name="Légende 3"/>
          <p:cNvSpPr txBox="1"/>
          <p:nvPr/>
        </p:nvSpPr>
        <p:spPr>
          <a:xfrm>
            <a:off x="9704316" y="3798202"/>
            <a:ext cx="822960" cy="292608"/>
          </a:xfrm>
          <a:prstGeom prst="rect">
            <a:avLst/>
          </a:prstGeom>
          <a:noFill/>
          <a:ln/>
        </p:spPr>
        <p:txBody>
          <a:bodyPr wrap="square" lIns="0" tIns="0" rIns="0" bIns="0" rtlCol="0" anchor="ctr"/>
          <a:lstStyle/>
          <a:p>
            <a:pPr algn="ctr" indent="0" marL="0">
              <a:buNone/>
            </a:pPr>
            <a:r>
              <a:rPr lang="en-US" sz="1200" b="1" dirty="0">
                <a:solidFill>
                  <a:schemeClr val="tx2"/>
                </a:solidFill>
              </a:rPr>
              <a:t>Énergie</a:t>
            </a:r>
            <a:endParaRPr lang="en-US" sz="1200" dirty="0"/>
          </a:p>
        </p:txBody>
      </p:sp>
      <p:sp>
        <p:nvSpPr>
          <p:cNvPr id="24" name="Réaction en chaîne texte"/>
          <p:cNvSpPr txBox="1"/>
          <p:nvPr/>
        </p:nvSpPr>
        <p:spPr>
          <a:xfrm>
            <a:off x="4983480" y="4956048"/>
            <a:ext cx="6656832" cy="566928"/>
          </a:xfrm>
          <a:prstGeom prst="rect">
            <a:avLst/>
          </a:prstGeom>
          <a:noFill/>
          <a:ln/>
        </p:spPr>
        <p:txBody>
          <a:bodyPr wrap="square" lIns="0" tIns="0" rIns="0" bIns="0" rtlCol="0" anchor="ctr"/>
          <a:lstStyle/>
          <a:p>
            <a:pPr indent="0" marL="0">
              <a:buNone/>
            </a:pPr>
            <a:r>
              <a:rPr lang="en-US" sz="1600" b="1" dirty="0">
                <a:solidFill>
                  <a:schemeClr val="tx2"/>
                </a:solidFill>
              </a:rPr>
              <a:t>Réaction en chaîne : </a:t>
            </a:r>
            <a:pPr indent="0" marL="0">
              <a:buNone/>
            </a:pPr>
            <a:r>
              <a:rPr lang="en-US" sz="1600" dirty="0">
                <a:solidFill>
                  <a:schemeClr val="tx1"/>
                </a:solidFill>
              </a:rPr>
              <a:t>les neutrons libérés peuvent provoquer la fission d’autres noyaux.</a:t>
            </a:r>
            <a:endParaRPr lang="en-US" sz="1600" dirty="0"/>
          </a:p>
        </p:txBody>
      </p:sp>
      <p:sp>
        <p:nvSpPr>
          <p:cNvPr id="25" name="Cadre centrale"/>
          <p:cNvSpPr/>
          <p:nvPr/>
        </p:nvSpPr>
        <p:spPr>
          <a:xfrm>
            <a:off x="4983480" y="5596128"/>
            <a:ext cx="6656832" cy="685800"/>
          </a:xfrm>
          <a:prstGeom prst="roundRect">
            <a:avLst>
              <a:gd name="adj" fmla="val 16000"/>
            </a:avLst>
          </a:prstGeom>
          <a:solidFill>
            <a:srgbClr val="FDEFC4"/>
          </a:solidFill>
          <a:ln w="12700">
            <a:solidFill>
              <a:schemeClr val="accent2"/>
            </a:solidFill>
            <a:prstDash val="solid"/>
          </a:ln>
        </p:spPr>
      </p:sp>
      <p:sp>
        <p:nvSpPr>
          <p:cNvPr id="26" name="Réaction contrôlée"/>
          <p:cNvSpPr txBox="1"/>
          <p:nvPr/>
        </p:nvSpPr>
        <p:spPr>
          <a:xfrm>
            <a:off x="5166360" y="5596128"/>
            <a:ext cx="6291072" cy="685800"/>
          </a:xfrm>
          <a:prstGeom prst="rect">
            <a:avLst/>
          </a:prstGeom>
          <a:noFill/>
          <a:ln/>
        </p:spPr>
        <p:txBody>
          <a:bodyPr wrap="square" lIns="0" tIns="0" rIns="0" bIns="0" rtlCol="0" anchor="ctr"/>
          <a:lstStyle/>
          <a:p>
            <a:pPr indent="0" marL="0">
              <a:buNone/>
            </a:pPr>
            <a:r>
              <a:rPr lang="en-US" sz="1600" b="1" dirty="0">
                <a:solidFill>
                  <a:schemeClr val="tx2"/>
                </a:solidFill>
              </a:rPr>
              <a:t>Réaction contrôlée dans une centrale : </a:t>
            </a:r>
            <a:pPr indent="0" marL="0">
              <a:buNone/>
            </a:pPr>
            <a:r>
              <a:rPr lang="en-US" sz="1600" dirty="0">
                <a:solidFill>
                  <a:schemeClr val="tx1"/>
                </a:solidFill>
              </a:rPr>
              <a:t>production régulière d’énergie.</a:t>
            </a:r>
            <a:endParaRPr lang="en-US" sz="16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2700" b="1" dirty="0">
                <a:solidFill>
                  <a:schemeClr val="tx2"/>
                </a:solidFill>
              </a:rPr>
              <a:t>Production d’électricité en centrale nucléaire</a:t>
            </a:r>
            <a:endParaRPr lang="en-US" sz="3200" dirty="0"/>
          </a:p>
        </p:txBody>
      </p:sp>
      <p:sp>
        <p:nvSpPr>
          <p:cNvPr id="3" name="Présentation"/>
          <p:cNvSpPr/>
          <p:nvPr/>
        </p:nvSpPr>
        <p:spPr>
          <a:xfrm>
            <a:off x="9372600" y="457200"/>
            <a:ext cx="2267712" cy="475488"/>
          </a:xfrm>
          <a:prstGeom prst="roundRect">
            <a:avLst>
              <a:gd name="adj" fmla="val 50000"/>
            </a:avLst>
          </a:prstGeom>
          <a:solidFill>
            <a:schemeClr val="bg2"/>
          </a:solidFill>
          <a:ln w="12700">
            <a:solidFill>
              <a:schemeClr val="bg2"/>
            </a:solidFill>
            <a:prstDash val="solid"/>
          </a:ln>
        </p:spPr>
      </p:sp>
      <p:sp>
        <p:nvSpPr>
          <p:cNvPr id="4" name="Nom orateur"/>
          <p:cNvSpPr txBox="1"/>
          <p:nvPr/>
        </p:nvSpPr>
        <p:spPr>
          <a:xfrm>
            <a:off x="9372600" y="457200"/>
            <a:ext cx="2267712" cy="475488"/>
          </a:xfrm>
          <a:prstGeom prst="rect">
            <a:avLst/>
          </a:prstGeom>
          <a:noFill/>
          <a:ln/>
        </p:spPr>
        <p:txBody>
          <a:bodyPr wrap="square" lIns="0" tIns="0" rIns="0" bIns="0" rtlCol="0" anchor="ctr"/>
          <a:lstStyle/>
          <a:p>
            <a:pPr algn="ctr" indent="0" marL="0">
              <a:buNone/>
            </a:pPr>
            <a:r>
              <a:rPr lang="en-US" sz="1400" dirty="0">
                <a:solidFill>
                  <a:schemeClr val="accent6"/>
                </a:solidFill>
              </a:rPr>
              <a:t>Présentatrice : </a:t>
            </a:r>
            <a:pPr algn="ctr" indent="0" marL="0">
              <a:buNone/>
            </a:pPr>
            <a:r>
              <a:rPr lang="en-US" sz="1400" b="1" dirty="0">
                <a:solidFill>
                  <a:schemeClr val="tx2"/>
                </a:solidFill>
              </a:rPr>
              <a:t>Coralie</a:t>
            </a:r>
            <a:endParaRPr lang="en-US" sz="1400" dirty="0"/>
          </a:p>
        </p:txBody>
      </p:sp>
      <p:sp>
        <p:nvSpPr>
          <p:cNvPr id="5" name="Objectif"/>
          <p:cNvSpPr txBox="1"/>
          <p:nvPr/>
        </p:nvSpPr>
        <p:spPr>
          <a:xfrm>
            <a:off x="548640" y="1234440"/>
            <a:ext cx="8595360" cy="457200"/>
          </a:xfrm>
          <a:prstGeom prst="rect">
            <a:avLst/>
          </a:prstGeom>
          <a:noFill/>
          <a:ln/>
        </p:spPr>
        <p:txBody>
          <a:bodyPr wrap="square" lIns="0" tIns="0" rIns="0" bIns="0" rtlCol="0" anchor="ctr"/>
          <a:lstStyle/>
          <a:p>
            <a:pPr indent="0" marL="0">
              <a:buNone/>
            </a:pPr>
            <a:r>
              <a:rPr lang="en-US" sz="1800" b="1" dirty="0">
                <a:solidFill>
                  <a:schemeClr val="tx2"/>
                </a:solidFill>
              </a:rPr>
              <a:t>Objectif : </a:t>
            </a:r>
            <a:pPr indent="0" marL="0">
              <a:buNone/>
            </a:pPr>
            <a:r>
              <a:rPr lang="en-US" sz="1800" dirty="0">
                <a:solidFill>
                  <a:schemeClr val="tx1"/>
                </a:solidFill>
              </a:rPr>
              <a:t>produire de l’électricité dans les centrales nucléaires.</a:t>
            </a:r>
            <a:endParaRPr lang="en-US" sz="1800" dirty="0"/>
          </a:p>
        </p:txBody>
      </p:sp>
      <p:sp>
        <p:nvSpPr>
          <p:cNvPr id="6" name="Étape 1"/>
          <p:cNvSpPr/>
          <p:nvPr/>
        </p:nvSpPr>
        <p:spPr>
          <a:xfrm>
            <a:off x="548640" y="1874520"/>
            <a:ext cx="2377440" cy="3520440"/>
          </a:xfrm>
          <a:prstGeom prst="roundRect">
            <a:avLst>
              <a:gd name="adj" fmla="val 5769"/>
            </a:avLst>
          </a:prstGeom>
          <a:solidFill>
            <a:schemeClr val="bg1"/>
          </a:solidFill>
          <a:ln w="9525">
            <a:solidFill>
              <a:srgbClr val="D8E6F5"/>
            </a:solidFill>
            <a:prstDash val="solid"/>
          </a:ln>
        </p:spPr>
      </p:sp>
      <p:sp>
        <p:nvSpPr>
          <p:cNvPr id="7" name="Pastille étape 1"/>
          <p:cNvSpPr/>
          <p:nvPr/>
        </p:nvSpPr>
        <p:spPr>
          <a:xfrm>
            <a:off x="713232" y="2039112"/>
            <a:ext cx="384048" cy="384048"/>
          </a:xfrm>
          <a:prstGeom prst="ellipse">
            <a:avLst/>
          </a:prstGeom>
          <a:solidFill>
            <a:schemeClr val="tx2"/>
          </a:solidFill>
          <a:ln w="12700">
            <a:solidFill>
              <a:schemeClr val="tx2"/>
            </a:solidFill>
            <a:prstDash val="solid"/>
          </a:ln>
        </p:spPr>
      </p:sp>
      <p:sp>
        <p:nvSpPr>
          <p:cNvPr id="8" name="Numéro étape 1"/>
          <p:cNvSpPr txBox="1"/>
          <p:nvPr/>
        </p:nvSpPr>
        <p:spPr>
          <a:xfrm>
            <a:off x="713232" y="2039112"/>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9" name="Texte étape 1"/>
          <p:cNvSpPr txBox="1"/>
          <p:nvPr/>
        </p:nvSpPr>
        <p:spPr>
          <a:xfrm>
            <a:off x="731520" y="3657600"/>
            <a:ext cx="2011680" cy="164592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Fission dans le réacteur</a:t>
            </a:r>
            <a:endParaRPr lang="en-US" sz="1600" dirty="0"/>
          </a:p>
          <a:p>
            <a:pPr indent="0" marL="0">
              <a:spcAft>
                <a:spcPts val="400"/>
              </a:spcAft>
              <a:buNone/>
            </a:pPr>
            <a:r>
              <a:rPr lang="en-US" sz="1400" dirty="0">
                <a:solidFill>
                  <a:schemeClr val="tx1"/>
                </a:solidFill>
              </a:rPr>
              <a:t>Les noyaux d’uranium se divisent et produisent beaucoup de chaleur.</a:t>
            </a:r>
            <a:endParaRPr lang="en-US" sz="1600" dirty="0"/>
          </a:p>
        </p:txBody>
      </p:sp>
      <p:sp>
        <p:nvSpPr>
          <p:cNvPr id="10" name="Flèche 1"/>
          <p:cNvSpPr/>
          <p:nvPr/>
        </p:nvSpPr>
        <p:spPr>
          <a:xfrm>
            <a:off x="2980944" y="2788920"/>
            <a:ext cx="393192" cy="365760"/>
          </a:xfrm>
          <a:prstGeom prst="rightArrow">
            <a:avLst/>
          </a:prstGeom>
          <a:solidFill>
            <a:schemeClr val="accent1"/>
          </a:solidFill>
          <a:ln w="12700">
            <a:solidFill>
              <a:schemeClr val="accent1"/>
            </a:solidFill>
            <a:prstDash val="solid"/>
          </a:ln>
        </p:spPr>
      </p:sp>
      <p:sp>
        <p:nvSpPr>
          <p:cNvPr id="11" name="Flux 1"/>
          <p:cNvSpPr txBox="1"/>
          <p:nvPr/>
        </p:nvSpPr>
        <p:spPr>
          <a:xfrm>
            <a:off x="2752344" y="3200400"/>
            <a:ext cx="850392" cy="274320"/>
          </a:xfrm>
          <a:prstGeom prst="rect">
            <a:avLst/>
          </a:prstGeom>
          <a:noFill/>
          <a:ln/>
        </p:spPr>
        <p:txBody>
          <a:bodyPr wrap="square" lIns="0" tIns="0" rIns="0" bIns="0" rtlCol="0" anchor="ctr"/>
          <a:lstStyle/>
          <a:p>
            <a:pPr algn="ctr" indent="0" marL="0">
              <a:buNone/>
            </a:pPr>
            <a:r>
              <a:rPr lang="en-US" sz="1100" dirty="0">
                <a:solidFill>
                  <a:schemeClr val="accent6"/>
                </a:solidFill>
              </a:rPr>
              <a:t>chaleur</a:t>
            </a:r>
            <a:endParaRPr lang="en-US" sz="1100" dirty="0"/>
          </a:p>
        </p:txBody>
      </p:sp>
      <p:sp>
        <p:nvSpPr>
          <p:cNvPr id="12" name="Étape 2"/>
          <p:cNvSpPr/>
          <p:nvPr/>
        </p:nvSpPr>
        <p:spPr>
          <a:xfrm>
            <a:off x="3429000" y="1874520"/>
            <a:ext cx="2377440" cy="3520440"/>
          </a:xfrm>
          <a:prstGeom prst="roundRect">
            <a:avLst>
              <a:gd name="adj" fmla="val 5769"/>
            </a:avLst>
          </a:prstGeom>
          <a:solidFill>
            <a:schemeClr val="bg1"/>
          </a:solidFill>
          <a:ln w="9525">
            <a:solidFill>
              <a:srgbClr val="D8E6F5"/>
            </a:solidFill>
            <a:prstDash val="solid"/>
          </a:ln>
        </p:spPr>
      </p:sp>
      <p:sp>
        <p:nvSpPr>
          <p:cNvPr id="13" name="Pastille étape 2"/>
          <p:cNvSpPr/>
          <p:nvPr/>
        </p:nvSpPr>
        <p:spPr>
          <a:xfrm>
            <a:off x="3593592" y="2039112"/>
            <a:ext cx="384048" cy="384048"/>
          </a:xfrm>
          <a:prstGeom prst="ellipse">
            <a:avLst/>
          </a:prstGeom>
          <a:solidFill>
            <a:schemeClr val="tx2"/>
          </a:solidFill>
          <a:ln w="12700">
            <a:solidFill>
              <a:schemeClr val="tx2"/>
            </a:solidFill>
            <a:prstDash val="solid"/>
          </a:ln>
        </p:spPr>
      </p:sp>
      <p:sp>
        <p:nvSpPr>
          <p:cNvPr id="14" name="Numéro étape 2"/>
          <p:cNvSpPr txBox="1"/>
          <p:nvPr/>
        </p:nvSpPr>
        <p:spPr>
          <a:xfrm>
            <a:off x="3593592" y="2039112"/>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5" name="Texte étape 2"/>
          <p:cNvSpPr txBox="1"/>
          <p:nvPr/>
        </p:nvSpPr>
        <p:spPr>
          <a:xfrm>
            <a:off x="3611880" y="3657600"/>
            <a:ext cx="2011680" cy="164592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Production de vapeur d’eau grâce à la chaleur</a:t>
            </a:r>
            <a:endParaRPr lang="en-US" sz="1600" dirty="0"/>
          </a:p>
          <a:p>
            <a:pPr indent="0" marL="0">
              <a:spcAft>
                <a:spcPts val="400"/>
              </a:spcAft>
              <a:buNone/>
            </a:pPr>
            <a:r>
              <a:rPr lang="en-US" sz="1400" dirty="0">
                <a:solidFill>
                  <a:schemeClr val="tx1"/>
                </a:solidFill>
              </a:rPr>
              <a:t>La chaleur chauffe l’eau, qui se transforme en vapeur.</a:t>
            </a:r>
            <a:endParaRPr lang="en-US" sz="1600" dirty="0"/>
          </a:p>
        </p:txBody>
      </p:sp>
      <p:sp>
        <p:nvSpPr>
          <p:cNvPr id="16" name="Flèche 2"/>
          <p:cNvSpPr/>
          <p:nvPr/>
        </p:nvSpPr>
        <p:spPr>
          <a:xfrm>
            <a:off x="5861304" y="2788920"/>
            <a:ext cx="393192" cy="365760"/>
          </a:xfrm>
          <a:prstGeom prst="rightArrow">
            <a:avLst/>
          </a:prstGeom>
          <a:solidFill>
            <a:schemeClr val="accent1"/>
          </a:solidFill>
          <a:ln w="12700">
            <a:solidFill>
              <a:schemeClr val="accent1"/>
            </a:solidFill>
            <a:prstDash val="solid"/>
          </a:ln>
        </p:spPr>
      </p:sp>
      <p:sp>
        <p:nvSpPr>
          <p:cNvPr id="17" name="Flux 2"/>
          <p:cNvSpPr txBox="1"/>
          <p:nvPr/>
        </p:nvSpPr>
        <p:spPr>
          <a:xfrm>
            <a:off x="5632704" y="3200400"/>
            <a:ext cx="850392" cy="274320"/>
          </a:xfrm>
          <a:prstGeom prst="rect">
            <a:avLst/>
          </a:prstGeom>
          <a:noFill/>
          <a:ln/>
        </p:spPr>
        <p:txBody>
          <a:bodyPr wrap="square" lIns="0" tIns="0" rIns="0" bIns="0" rtlCol="0" anchor="ctr"/>
          <a:lstStyle/>
          <a:p>
            <a:pPr algn="ctr" indent="0" marL="0">
              <a:buNone/>
            </a:pPr>
            <a:r>
              <a:rPr lang="en-US" sz="1100" dirty="0">
                <a:solidFill>
                  <a:schemeClr val="accent6"/>
                </a:solidFill>
              </a:rPr>
              <a:t>vapeur</a:t>
            </a:r>
            <a:endParaRPr lang="en-US" sz="1100" dirty="0"/>
          </a:p>
        </p:txBody>
      </p:sp>
      <p:sp>
        <p:nvSpPr>
          <p:cNvPr id="18" name="Étape 3"/>
          <p:cNvSpPr/>
          <p:nvPr/>
        </p:nvSpPr>
        <p:spPr>
          <a:xfrm>
            <a:off x="6309360" y="1874520"/>
            <a:ext cx="2377440" cy="3520440"/>
          </a:xfrm>
          <a:prstGeom prst="roundRect">
            <a:avLst>
              <a:gd name="adj" fmla="val 5769"/>
            </a:avLst>
          </a:prstGeom>
          <a:solidFill>
            <a:schemeClr val="bg1"/>
          </a:solidFill>
          <a:ln w="9525">
            <a:solidFill>
              <a:srgbClr val="D8E6F5"/>
            </a:solidFill>
            <a:prstDash val="solid"/>
          </a:ln>
        </p:spPr>
      </p:sp>
      <p:sp>
        <p:nvSpPr>
          <p:cNvPr id="19" name="Pastille étape 3"/>
          <p:cNvSpPr/>
          <p:nvPr/>
        </p:nvSpPr>
        <p:spPr>
          <a:xfrm>
            <a:off x="6473952" y="2039112"/>
            <a:ext cx="384048" cy="384048"/>
          </a:xfrm>
          <a:prstGeom prst="ellipse">
            <a:avLst/>
          </a:prstGeom>
          <a:solidFill>
            <a:schemeClr val="tx2"/>
          </a:solidFill>
          <a:ln w="12700">
            <a:solidFill>
              <a:schemeClr val="tx2"/>
            </a:solidFill>
            <a:prstDash val="solid"/>
          </a:ln>
        </p:spPr>
      </p:sp>
      <p:sp>
        <p:nvSpPr>
          <p:cNvPr id="20" name="Numéro étape 3"/>
          <p:cNvSpPr txBox="1"/>
          <p:nvPr/>
        </p:nvSpPr>
        <p:spPr>
          <a:xfrm>
            <a:off x="6473952" y="2039112"/>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1" name="Texte étape 3"/>
          <p:cNvSpPr txBox="1"/>
          <p:nvPr/>
        </p:nvSpPr>
        <p:spPr>
          <a:xfrm>
            <a:off x="6492240" y="3657600"/>
            <a:ext cx="2011680" cy="164592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Turbine et alternateur</a:t>
            </a:r>
            <a:endParaRPr lang="en-US" sz="1600" dirty="0"/>
          </a:p>
          <a:p>
            <a:pPr indent="0" marL="0">
              <a:spcAft>
                <a:spcPts val="400"/>
              </a:spcAft>
              <a:buNone/>
            </a:pPr>
            <a:r>
              <a:rPr lang="en-US" sz="1400" dirty="0">
                <a:solidFill>
                  <a:schemeClr val="tx1"/>
                </a:solidFill>
              </a:rPr>
              <a:t>La vapeur fait tourner la turbine, reliée à l’alternateur.</a:t>
            </a:r>
            <a:endParaRPr lang="en-US" sz="1600" dirty="0"/>
          </a:p>
        </p:txBody>
      </p:sp>
      <p:sp>
        <p:nvSpPr>
          <p:cNvPr id="22" name="Flèche 3"/>
          <p:cNvSpPr/>
          <p:nvPr/>
        </p:nvSpPr>
        <p:spPr>
          <a:xfrm>
            <a:off x="8741664" y="2788920"/>
            <a:ext cx="393192" cy="365760"/>
          </a:xfrm>
          <a:prstGeom prst="rightArrow">
            <a:avLst/>
          </a:prstGeom>
          <a:solidFill>
            <a:schemeClr val="accent1"/>
          </a:solidFill>
          <a:ln w="12700">
            <a:solidFill>
              <a:schemeClr val="accent1"/>
            </a:solidFill>
            <a:prstDash val="solid"/>
          </a:ln>
        </p:spPr>
      </p:sp>
      <p:sp>
        <p:nvSpPr>
          <p:cNvPr id="23" name="Flux 3"/>
          <p:cNvSpPr txBox="1"/>
          <p:nvPr/>
        </p:nvSpPr>
        <p:spPr>
          <a:xfrm>
            <a:off x="8513064" y="3200400"/>
            <a:ext cx="850392" cy="274320"/>
          </a:xfrm>
          <a:prstGeom prst="rect">
            <a:avLst/>
          </a:prstGeom>
          <a:noFill/>
          <a:ln/>
        </p:spPr>
        <p:txBody>
          <a:bodyPr wrap="square" lIns="0" tIns="0" rIns="0" bIns="0" rtlCol="0" anchor="ctr"/>
          <a:lstStyle/>
          <a:p>
            <a:pPr algn="ctr" indent="0" marL="0">
              <a:buNone/>
            </a:pPr>
            <a:r>
              <a:rPr lang="en-US" sz="1100" dirty="0">
                <a:solidFill>
                  <a:schemeClr val="accent6"/>
                </a:solidFill>
              </a:rPr>
              <a:t>rotation</a:t>
            </a:r>
            <a:endParaRPr lang="en-US" sz="1100" dirty="0"/>
          </a:p>
        </p:txBody>
      </p:sp>
      <p:sp>
        <p:nvSpPr>
          <p:cNvPr id="24" name="Étape 4"/>
          <p:cNvSpPr/>
          <p:nvPr/>
        </p:nvSpPr>
        <p:spPr>
          <a:xfrm>
            <a:off x="9189720" y="1874520"/>
            <a:ext cx="2377440" cy="3520440"/>
          </a:xfrm>
          <a:prstGeom prst="roundRect">
            <a:avLst>
              <a:gd name="adj" fmla="val 5769"/>
            </a:avLst>
          </a:prstGeom>
          <a:solidFill>
            <a:schemeClr val="bg1"/>
          </a:solidFill>
          <a:ln w="9525">
            <a:solidFill>
              <a:srgbClr val="D8E6F5"/>
            </a:solidFill>
            <a:prstDash val="solid"/>
          </a:ln>
        </p:spPr>
      </p:sp>
      <p:sp>
        <p:nvSpPr>
          <p:cNvPr id="25" name="Pastille étape 4"/>
          <p:cNvSpPr/>
          <p:nvPr/>
        </p:nvSpPr>
        <p:spPr>
          <a:xfrm>
            <a:off x="9354312" y="2039112"/>
            <a:ext cx="384048" cy="384048"/>
          </a:xfrm>
          <a:prstGeom prst="ellipse">
            <a:avLst/>
          </a:prstGeom>
          <a:solidFill>
            <a:schemeClr val="tx2"/>
          </a:solidFill>
          <a:ln w="12700">
            <a:solidFill>
              <a:schemeClr val="tx2"/>
            </a:solidFill>
            <a:prstDash val="solid"/>
          </a:ln>
        </p:spPr>
      </p:sp>
      <p:sp>
        <p:nvSpPr>
          <p:cNvPr id="26" name="Numéro étape 4"/>
          <p:cNvSpPr txBox="1"/>
          <p:nvPr/>
        </p:nvSpPr>
        <p:spPr>
          <a:xfrm>
            <a:off x="9354312" y="2039112"/>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7" name="Texte étape 4"/>
          <p:cNvSpPr txBox="1"/>
          <p:nvPr/>
        </p:nvSpPr>
        <p:spPr>
          <a:xfrm>
            <a:off x="9372600" y="3657600"/>
            <a:ext cx="2011680" cy="164592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Production d’électricité</a:t>
            </a:r>
            <a:endParaRPr lang="en-US" sz="1600" dirty="0"/>
          </a:p>
          <a:p>
            <a:pPr indent="0" marL="0">
              <a:spcAft>
                <a:spcPts val="400"/>
              </a:spcAft>
              <a:buNone/>
            </a:pPr>
            <a:r>
              <a:rPr lang="en-US" sz="1400" dirty="0">
                <a:solidFill>
                  <a:schemeClr val="tx1"/>
                </a:solidFill>
              </a:rPr>
              <a:t>L’alternateur produit de l’électricité.</a:t>
            </a:r>
            <a:endParaRPr lang="en-US" sz="1600" dirty="0"/>
          </a:p>
        </p:txBody>
      </p:sp>
      <p:sp>
        <p:nvSpPr>
          <p:cNvPr id="28" name="Cuve du réacteur"/>
          <p:cNvSpPr/>
          <p:nvPr/>
        </p:nvSpPr>
        <p:spPr>
          <a:xfrm>
            <a:off x="1234440" y="2560320"/>
            <a:ext cx="1005840" cy="1005840"/>
          </a:xfrm>
          <a:prstGeom prst="roundRect">
            <a:avLst>
              <a:gd name="adj" fmla="val 27273"/>
            </a:avLst>
          </a:prstGeom>
          <a:solidFill>
            <a:srgbClr val="FDEFC4"/>
          </a:solidFill>
          <a:ln w="25400">
            <a:solidFill>
              <a:schemeClr val="tx2"/>
            </a:solidFill>
            <a:prstDash val="solid"/>
          </a:ln>
        </p:spPr>
      </p:sp>
      <p:sp>
        <p:nvSpPr>
          <p:cNvPr id="29" name="Noyau 1"/>
          <p:cNvSpPr/>
          <p:nvPr/>
        </p:nvSpPr>
        <p:spPr>
          <a:xfrm>
            <a:off x="1417320" y="2788920"/>
            <a:ext cx="219456" cy="219456"/>
          </a:xfrm>
          <a:prstGeom prst="ellipse">
            <a:avLst/>
          </a:prstGeom>
          <a:solidFill>
            <a:schemeClr val="accent3"/>
          </a:solidFill>
          <a:ln w="12700">
            <a:solidFill>
              <a:schemeClr val="accent3"/>
            </a:solidFill>
            <a:prstDash val="solid"/>
          </a:ln>
        </p:spPr>
      </p:sp>
      <p:sp>
        <p:nvSpPr>
          <p:cNvPr id="30" name="Noyau 2"/>
          <p:cNvSpPr/>
          <p:nvPr/>
        </p:nvSpPr>
        <p:spPr>
          <a:xfrm>
            <a:off x="1783080" y="2743200"/>
            <a:ext cx="219456" cy="219456"/>
          </a:xfrm>
          <a:prstGeom prst="ellipse">
            <a:avLst/>
          </a:prstGeom>
          <a:solidFill>
            <a:schemeClr val="accent3"/>
          </a:solidFill>
          <a:ln w="12700">
            <a:solidFill>
              <a:schemeClr val="accent3"/>
            </a:solidFill>
            <a:prstDash val="solid"/>
          </a:ln>
        </p:spPr>
      </p:sp>
      <p:sp>
        <p:nvSpPr>
          <p:cNvPr id="31" name="Noyau 3"/>
          <p:cNvSpPr/>
          <p:nvPr/>
        </p:nvSpPr>
        <p:spPr>
          <a:xfrm>
            <a:off x="1581912" y="3108960"/>
            <a:ext cx="219456" cy="219456"/>
          </a:xfrm>
          <a:prstGeom prst="ellipse">
            <a:avLst/>
          </a:prstGeom>
          <a:solidFill>
            <a:schemeClr val="accent3"/>
          </a:solidFill>
          <a:ln w="12700">
            <a:solidFill>
              <a:schemeClr val="accent3"/>
            </a:solidFill>
            <a:prstDash val="solid"/>
          </a:ln>
        </p:spPr>
      </p:sp>
      <p:sp>
        <p:nvSpPr>
          <p:cNvPr id="32" name="Noyau 4"/>
          <p:cNvSpPr/>
          <p:nvPr/>
        </p:nvSpPr>
        <p:spPr>
          <a:xfrm>
            <a:off x="1874520" y="3127248"/>
            <a:ext cx="219456" cy="219456"/>
          </a:xfrm>
          <a:prstGeom prst="ellipse">
            <a:avLst/>
          </a:prstGeom>
          <a:solidFill>
            <a:schemeClr val="accent3"/>
          </a:solidFill>
          <a:ln w="12700">
            <a:solidFill>
              <a:schemeClr val="accent3"/>
            </a:solidFill>
            <a:prstDash val="solid"/>
          </a:ln>
        </p:spPr>
      </p:sp>
      <p:sp>
        <p:nvSpPr>
          <p:cNvPr id="33" name="Eau"/>
          <p:cNvSpPr/>
          <p:nvPr/>
        </p:nvSpPr>
        <p:spPr>
          <a:xfrm>
            <a:off x="4114800" y="3063240"/>
            <a:ext cx="1005840" cy="502920"/>
          </a:xfrm>
          <a:prstGeom prst="roundRect">
            <a:avLst>
              <a:gd name="adj" fmla="val 18182"/>
            </a:avLst>
          </a:prstGeom>
          <a:solidFill>
            <a:schemeClr val="accent1"/>
          </a:solidFill>
          <a:ln w="25400">
            <a:solidFill>
              <a:schemeClr val="tx2"/>
            </a:solidFill>
            <a:prstDash val="solid"/>
          </a:ln>
        </p:spPr>
      </p:sp>
      <p:sp>
        <p:nvSpPr>
          <p:cNvPr id="34" name="Vapeur 1"/>
          <p:cNvSpPr/>
          <p:nvPr/>
        </p:nvSpPr>
        <p:spPr>
          <a:xfrm>
            <a:off x="4160520" y="2578608"/>
            <a:ext cx="384048" cy="310896"/>
          </a:xfrm>
          <a:prstGeom prst="cloud">
            <a:avLst/>
          </a:prstGeom>
          <a:solidFill>
            <a:srgbClr val="DCE7F3"/>
          </a:solidFill>
          <a:ln w="12700">
            <a:solidFill>
              <a:schemeClr val="accent6"/>
            </a:solidFill>
            <a:prstDash val="solid"/>
          </a:ln>
        </p:spPr>
      </p:sp>
      <p:sp>
        <p:nvSpPr>
          <p:cNvPr id="35" name="Vapeur 2"/>
          <p:cNvSpPr/>
          <p:nvPr/>
        </p:nvSpPr>
        <p:spPr>
          <a:xfrm>
            <a:off x="4498848" y="2468880"/>
            <a:ext cx="384048" cy="310896"/>
          </a:xfrm>
          <a:prstGeom prst="cloud">
            <a:avLst/>
          </a:prstGeom>
          <a:solidFill>
            <a:srgbClr val="DCE7F3"/>
          </a:solidFill>
          <a:ln w="12700">
            <a:solidFill>
              <a:schemeClr val="accent6"/>
            </a:solidFill>
            <a:prstDash val="solid"/>
          </a:ln>
        </p:spPr>
      </p:sp>
      <p:sp>
        <p:nvSpPr>
          <p:cNvPr id="36" name="Vapeur 3"/>
          <p:cNvSpPr/>
          <p:nvPr/>
        </p:nvSpPr>
        <p:spPr>
          <a:xfrm>
            <a:off x="4773168" y="2606040"/>
            <a:ext cx="384048" cy="310896"/>
          </a:xfrm>
          <a:prstGeom prst="cloud">
            <a:avLst/>
          </a:prstGeom>
          <a:solidFill>
            <a:srgbClr val="DCE7F3"/>
          </a:solidFill>
          <a:ln w="12700">
            <a:solidFill>
              <a:schemeClr val="accent6"/>
            </a:solidFill>
            <a:prstDash val="solid"/>
          </a:ln>
        </p:spPr>
      </p:sp>
      <p:sp>
        <p:nvSpPr>
          <p:cNvPr id="37" name="Turbine"/>
          <p:cNvSpPr/>
          <p:nvPr/>
        </p:nvSpPr>
        <p:spPr>
          <a:xfrm>
            <a:off x="6693408" y="2651760"/>
            <a:ext cx="822960" cy="822960"/>
          </a:xfrm>
          <a:prstGeom prst="gear9">
            <a:avLst/>
          </a:prstGeom>
          <a:solidFill>
            <a:schemeClr val="accent1"/>
          </a:solidFill>
          <a:ln w="19050">
            <a:solidFill>
              <a:schemeClr val="tx2"/>
            </a:solidFill>
            <a:prstDash val="solid"/>
          </a:ln>
        </p:spPr>
      </p:sp>
      <p:sp>
        <p:nvSpPr>
          <p:cNvPr id="38" name="Arbre"/>
          <p:cNvSpPr/>
          <p:nvPr/>
        </p:nvSpPr>
        <p:spPr>
          <a:xfrm>
            <a:off x="7470648" y="3017520"/>
            <a:ext cx="365760" cy="91440"/>
          </a:xfrm>
          <a:prstGeom prst="rect">
            <a:avLst/>
          </a:prstGeom>
          <a:solidFill>
            <a:schemeClr val="tx2"/>
          </a:solidFill>
          <a:ln w="12700">
            <a:solidFill>
              <a:schemeClr val="tx2"/>
            </a:solidFill>
            <a:prstDash val="solid"/>
          </a:ln>
        </p:spPr>
      </p:sp>
      <p:sp>
        <p:nvSpPr>
          <p:cNvPr id="39" name="Alternateur"/>
          <p:cNvSpPr/>
          <p:nvPr/>
        </p:nvSpPr>
        <p:spPr>
          <a:xfrm>
            <a:off x="7808976" y="2743200"/>
            <a:ext cx="548640" cy="640080"/>
          </a:xfrm>
          <a:prstGeom prst="roundRect">
            <a:avLst>
              <a:gd name="adj" fmla="val 16667"/>
            </a:avLst>
          </a:prstGeom>
          <a:solidFill>
            <a:schemeClr val="bg2"/>
          </a:solidFill>
          <a:ln w="19050">
            <a:solidFill>
              <a:schemeClr val="tx2"/>
            </a:solidFill>
            <a:prstDash val="solid"/>
          </a:ln>
        </p:spPr>
      </p:sp>
      <p:sp>
        <p:nvSpPr>
          <p:cNvPr id="40" name="Symbole alternatif"/>
          <p:cNvSpPr txBox="1"/>
          <p:nvPr/>
        </p:nvSpPr>
        <p:spPr>
          <a:xfrm>
            <a:off x="7808976" y="2743200"/>
            <a:ext cx="548640" cy="640080"/>
          </a:xfrm>
          <a:prstGeom prst="rect">
            <a:avLst/>
          </a:prstGeom>
          <a:noFill/>
          <a:ln/>
        </p:spPr>
        <p:txBody>
          <a:bodyPr wrap="square" lIns="0" tIns="0" rIns="0" bIns="0" rtlCol="0" anchor="ctr"/>
          <a:lstStyle/>
          <a:p>
            <a:pPr algn="ctr" indent="0" marL="0">
              <a:buNone/>
            </a:pPr>
            <a:r>
              <a:rPr lang="en-US" sz="2400" b="1" dirty="0">
                <a:solidFill>
                  <a:schemeClr val="tx2"/>
                </a:solidFill>
              </a:rPr>
              <a:t>~</a:t>
            </a:r>
            <a:endParaRPr lang="en-US" sz="2400" dirty="0"/>
          </a:p>
        </p:txBody>
      </p:sp>
      <p:pic>
        <p:nvPicPr>
          <p:cNvPr id="41" name="Symbole électricité" descr="Symbole électrique">    </p:cNvPr>
          <p:cNvPicPr>
            <a:picLocks noChangeAspect="1"/>
          </p:cNvPicPr>
          <p:nvPr/>
        </p:nvPicPr>
        <p:blipFill>
          <a:blip r:embed="rId1"/>
          <a:stretch>
            <a:fillRect/>
          </a:stretch>
        </p:blipFill>
        <p:spPr>
          <a:xfrm>
            <a:off x="9848088" y="2542032"/>
            <a:ext cx="1051560" cy="1051560"/>
          </a:xfrm>
          <a:prstGeom prst="rect">
            <a:avLst/>
          </a:prstGeom>
        </p:spPr>
      </p:pic>
      <p:sp>
        <p:nvSpPr>
          <p:cNvPr id="42" name="Cadre résumé"/>
          <p:cNvSpPr/>
          <p:nvPr/>
        </p:nvSpPr>
        <p:spPr>
          <a:xfrm>
            <a:off x="548640" y="5577840"/>
            <a:ext cx="11094415" cy="685800"/>
          </a:xfrm>
          <a:prstGeom prst="roundRect">
            <a:avLst>
              <a:gd name="adj" fmla="val 20000"/>
            </a:avLst>
          </a:prstGeom>
          <a:solidFill>
            <a:schemeClr val="bg2"/>
          </a:solidFill>
          <a:ln w="9525">
            <a:solidFill>
              <a:srgbClr val="D8E6F5"/>
            </a:solidFill>
            <a:prstDash val="solid"/>
          </a:ln>
        </p:spPr>
      </p:sp>
      <p:sp>
        <p:nvSpPr>
          <p:cNvPr id="43" name="Résumé chaîne"/>
          <p:cNvSpPr txBox="1"/>
          <p:nvPr/>
        </p:nvSpPr>
        <p:spPr>
          <a:xfrm>
            <a:off x="548640" y="5577840"/>
            <a:ext cx="11094415" cy="685800"/>
          </a:xfrm>
          <a:prstGeom prst="rect">
            <a:avLst/>
          </a:prstGeom>
          <a:noFill/>
          <a:ln/>
        </p:spPr>
        <p:txBody>
          <a:bodyPr wrap="square" lIns="0" tIns="0" rIns="0" bIns="0" rtlCol="0" anchor="ctr"/>
          <a:lstStyle/>
          <a:p>
            <a:pPr algn="ctr" indent="0" marL="0">
              <a:buNone/>
            </a:pPr>
            <a:r>
              <a:rPr lang="en-US" sz="1800" b="1" dirty="0">
                <a:solidFill>
                  <a:schemeClr val="tx2"/>
                </a:solidFill>
              </a:rPr>
              <a:t>Fission → chaleur → vapeur → turbine et alternateur → électricité</a:t>
            </a:r>
            <a:endParaRPr lang="en-US" sz="18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200" b="1" dirty="0">
                <a:solidFill>
                  <a:schemeClr val="tx2"/>
                </a:solidFill>
              </a:rPr>
              <a:t>Centrale nucléaire et armes nucléaires</a:t>
            </a:r>
            <a:endParaRPr lang="en-US" sz="3200" dirty="0"/>
          </a:p>
        </p:txBody>
      </p:sp>
      <p:sp>
        <p:nvSpPr>
          <p:cNvPr id="3" name="Présentation"/>
          <p:cNvSpPr/>
          <p:nvPr/>
        </p:nvSpPr>
        <p:spPr>
          <a:xfrm>
            <a:off x="9372600" y="457200"/>
            <a:ext cx="2267712" cy="475488"/>
          </a:xfrm>
          <a:prstGeom prst="roundRect">
            <a:avLst>
              <a:gd name="adj" fmla="val 50000"/>
            </a:avLst>
          </a:prstGeom>
          <a:solidFill>
            <a:schemeClr val="bg2"/>
          </a:solidFill>
          <a:ln w="12700">
            <a:solidFill>
              <a:schemeClr val="bg2"/>
            </a:solidFill>
            <a:prstDash val="solid"/>
          </a:ln>
        </p:spPr>
      </p:sp>
      <p:sp>
        <p:nvSpPr>
          <p:cNvPr id="4" name="Nom orateur"/>
          <p:cNvSpPr txBox="1"/>
          <p:nvPr/>
        </p:nvSpPr>
        <p:spPr>
          <a:xfrm>
            <a:off x="9372600" y="457200"/>
            <a:ext cx="2267712" cy="475488"/>
          </a:xfrm>
          <a:prstGeom prst="rect">
            <a:avLst/>
          </a:prstGeom>
          <a:noFill/>
          <a:ln/>
        </p:spPr>
        <p:txBody>
          <a:bodyPr wrap="square" lIns="0" tIns="0" rIns="0" bIns="0" rtlCol="0" anchor="ctr"/>
          <a:lstStyle/>
          <a:p>
            <a:pPr algn="ctr" indent="0" marL="0">
              <a:buNone/>
            </a:pPr>
            <a:r>
              <a:rPr lang="en-US" sz="1400" dirty="0">
                <a:solidFill>
                  <a:schemeClr val="accent6"/>
                </a:solidFill>
              </a:rPr>
              <a:t>Présentateur : </a:t>
            </a:r>
            <a:pPr algn="ctr" indent="0" marL="0">
              <a:buNone/>
            </a:pPr>
            <a:r>
              <a:rPr lang="en-US" sz="1400" b="1" dirty="0">
                <a:solidFill>
                  <a:schemeClr val="tx2"/>
                </a:solidFill>
              </a:rPr>
              <a:t>Martin</a:t>
            </a:r>
            <a:endParaRPr lang="en-US" sz="1400" dirty="0"/>
          </a:p>
        </p:txBody>
      </p:sp>
      <p:sp>
        <p:nvSpPr>
          <p:cNvPr id="5" name="Colonne Centrale nucléaire"/>
          <p:cNvSpPr/>
          <p:nvPr/>
        </p:nvSpPr>
        <p:spPr>
          <a:xfrm>
            <a:off x="548640" y="1325880"/>
            <a:ext cx="5303520" cy="4937760"/>
          </a:xfrm>
          <a:prstGeom prst="roundRect">
            <a:avLst>
              <a:gd name="adj" fmla="val 3333"/>
            </a:avLst>
          </a:prstGeom>
          <a:solidFill>
            <a:srgbClr val="E3F3EE"/>
          </a:solidFill>
          <a:ln w="12700">
            <a:solidFill>
              <a:srgbClr val="E3F3EE"/>
            </a:solidFill>
            <a:prstDash val="solid"/>
          </a:ln>
        </p:spPr>
      </p:sp>
      <p:sp>
        <p:nvSpPr>
          <p:cNvPr id="6" name="Titre Centrale nucléaire"/>
          <p:cNvSpPr txBox="1"/>
          <p:nvPr/>
        </p:nvSpPr>
        <p:spPr>
          <a:xfrm>
            <a:off x="822960" y="1508760"/>
            <a:ext cx="4754880" cy="502920"/>
          </a:xfrm>
          <a:prstGeom prst="rect">
            <a:avLst/>
          </a:prstGeom>
          <a:noFill/>
          <a:ln/>
        </p:spPr>
        <p:txBody>
          <a:bodyPr wrap="square" lIns="0" tIns="0" rIns="0" bIns="0" rtlCol="0" anchor="ctr"/>
          <a:lstStyle/>
          <a:p>
            <a:pPr indent="0" marL="0">
              <a:buNone/>
            </a:pPr>
            <a:r>
              <a:rPr lang="en-US" sz="2400" b="1" dirty="0">
                <a:solidFill>
                  <a:schemeClr val="accent4"/>
                </a:solidFill>
              </a:rPr>
              <a:t>Centrale nucléaire</a:t>
            </a:r>
            <a:endParaRPr lang="en-US" sz="2400" dirty="0"/>
          </a:p>
        </p:txBody>
      </p:sp>
      <p:sp>
        <p:nvSpPr>
          <p:cNvPr id="7" name="Cadre illustration 1"/>
          <p:cNvSpPr/>
          <p:nvPr/>
        </p:nvSpPr>
        <p:spPr>
          <a:xfrm>
            <a:off x="822960" y="2148840"/>
            <a:ext cx="4754880" cy="2331720"/>
          </a:xfrm>
          <a:prstGeom prst="roundRect">
            <a:avLst>
              <a:gd name="adj" fmla="val 4706"/>
            </a:avLst>
          </a:prstGeom>
          <a:solidFill>
            <a:schemeClr val="bg1"/>
          </a:solidFill>
          <a:ln w="12700">
            <a:solidFill>
              <a:schemeClr val="bg1"/>
            </a:solidFill>
            <a:prstDash val="solid"/>
          </a:ln>
        </p:spPr>
      </p:sp>
      <p:pic>
        <p:nvPicPr>
          <p:cNvPr id="8" name="Centrale nucléaire stylisée" descr="Centrale nucléaire stylisée">    </p:cNvPr>
          <p:cNvPicPr>
            <a:picLocks noChangeAspect="1"/>
          </p:cNvPicPr>
          <p:nvPr/>
        </p:nvPicPr>
        <p:blipFill>
          <a:blip r:embed="rId1"/>
          <a:stretch>
            <a:fillRect/>
          </a:stretch>
        </p:blipFill>
        <p:spPr>
          <a:xfrm>
            <a:off x="2103120" y="2217420"/>
            <a:ext cx="2194560" cy="2194560"/>
          </a:xfrm>
          <a:prstGeom prst="rect">
            <a:avLst/>
          </a:prstGeom>
        </p:spPr>
      </p:pic>
      <p:sp>
        <p:nvSpPr>
          <p:cNvPr id="9" name="Principe Centrale nucléaire"/>
          <p:cNvSpPr txBox="1"/>
          <p:nvPr/>
        </p:nvSpPr>
        <p:spPr>
          <a:xfrm>
            <a:off x="822960" y="4663440"/>
            <a:ext cx="4754880" cy="91440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Réaction contrôlée</a:t>
            </a:r>
            <a:endParaRPr lang="en-US" sz="1800" dirty="0"/>
          </a:p>
          <a:p>
            <a:pPr indent="0" marL="0">
              <a:spcAft>
                <a:spcPts val="400"/>
              </a:spcAft>
              <a:buNone/>
            </a:pPr>
            <a:r>
              <a:rPr lang="en-US" sz="1600" dirty="0">
                <a:solidFill>
                  <a:schemeClr val="tx1"/>
                </a:solidFill>
              </a:rPr>
              <a:t>→ production régulière et progressive d’énergie</a:t>
            </a:r>
            <a:endParaRPr lang="en-US" sz="1800" dirty="0"/>
          </a:p>
        </p:txBody>
      </p:sp>
      <p:sp>
        <p:nvSpPr>
          <p:cNvPr id="10" name="Colonne Arme nucléaire"/>
          <p:cNvSpPr/>
          <p:nvPr/>
        </p:nvSpPr>
        <p:spPr>
          <a:xfrm>
            <a:off x="6339535" y="1325880"/>
            <a:ext cx="5303520" cy="4937760"/>
          </a:xfrm>
          <a:prstGeom prst="roundRect">
            <a:avLst>
              <a:gd name="adj" fmla="val 3333"/>
            </a:avLst>
          </a:prstGeom>
          <a:solidFill>
            <a:srgbClr val="FBE9E4"/>
          </a:solidFill>
          <a:ln w="12700">
            <a:solidFill>
              <a:srgbClr val="FBE9E4"/>
            </a:solidFill>
            <a:prstDash val="solid"/>
          </a:ln>
        </p:spPr>
      </p:sp>
      <p:sp>
        <p:nvSpPr>
          <p:cNvPr id="11" name="Titre Arme nucléaire"/>
          <p:cNvSpPr txBox="1"/>
          <p:nvPr/>
        </p:nvSpPr>
        <p:spPr>
          <a:xfrm>
            <a:off x="6613855" y="1508760"/>
            <a:ext cx="4754880" cy="502920"/>
          </a:xfrm>
          <a:prstGeom prst="rect">
            <a:avLst/>
          </a:prstGeom>
          <a:noFill/>
          <a:ln/>
        </p:spPr>
        <p:txBody>
          <a:bodyPr wrap="square" lIns="0" tIns="0" rIns="0" bIns="0" rtlCol="0" anchor="ctr"/>
          <a:lstStyle/>
          <a:p>
            <a:pPr indent="0" marL="0">
              <a:buNone/>
            </a:pPr>
            <a:r>
              <a:rPr lang="en-US" sz="2400" b="1" dirty="0">
                <a:solidFill>
                  <a:schemeClr val="accent3"/>
                </a:solidFill>
              </a:rPr>
              <a:t>Arme nucléaire</a:t>
            </a:r>
            <a:endParaRPr lang="en-US" sz="2400" dirty="0"/>
          </a:p>
        </p:txBody>
      </p:sp>
      <p:sp>
        <p:nvSpPr>
          <p:cNvPr id="12" name="Cadre illustration 2"/>
          <p:cNvSpPr/>
          <p:nvPr/>
        </p:nvSpPr>
        <p:spPr>
          <a:xfrm>
            <a:off x="6613855" y="2148840"/>
            <a:ext cx="4754880" cy="2331720"/>
          </a:xfrm>
          <a:prstGeom prst="roundRect">
            <a:avLst>
              <a:gd name="adj" fmla="val 4706"/>
            </a:avLst>
          </a:prstGeom>
          <a:solidFill>
            <a:schemeClr val="bg1"/>
          </a:solidFill>
          <a:ln w="12700">
            <a:solidFill>
              <a:schemeClr val="bg1"/>
            </a:solidFill>
            <a:prstDash val="solid"/>
          </a:ln>
        </p:spPr>
      </p:sp>
      <p:pic>
        <p:nvPicPr>
          <p:cNvPr id="13" name="Dessin symbolique d’une explosion" descr="Dessin symbolique d’une explosion">    </p:cNvPr>
          <p:cNvPicPr>
            <a:picLocks noChangeAspect="1"/>
          </p:cNvPicPr>
          <p:nvPr/>
        </p:nvPicPr>
        <p:blipFill>
          <a:blip r:embed="rId2"/>
          <a:stretch>
            <a:fillRect/>
          </a:stretch>
        </p:blipFill>
        <p:spPr>
          <a:xfrm>
            <a:off x="7415660" y="2299216"/>
            <a:ext cx="2011680" cy="2030967"/>
          </a:xfrm>
          <a:prstGeom prst="rect">
            <a:avLst/>
          </a:prstGeom>
        </p:spPr>
      </p:pic>
      <p:pic>
        <p:nvPicPr>
          <p:cNvPr id="14" name="Dessin symbolique d’une bombe" descr="Dessin symbolique d’une bombe">    </p:cNvPr>
          <p:cNvPicPr>
            <a:picLocks noChangeAspect="1"/>
          </p:cNvPicPr>
          <p:nvPr/>
        </p:nvPicPr>
        <p:blipFill>
          <a:blip r:embed="rId3"/>
          <a:stretch>
            <a:fillRect/>
          </a:stretch>
        </p:blipFill>
        <p:spPr>
          <a:xfrm>
            <a:off x="9701660" y="2308860"/>
            <a:ext cx="865270" cy="2011680"/>
          </a:xfrm>
          <a:prstGeom prst="rect">
            <a:avLst/>
          </a:prstGeom>
        </p:spPr>
      </p:pic>
      <p:sp>
        <p:nvSpPr>
          <p:cNvPr id="15" name="Principe Arme nucléaire"/>
          <p:cNvSpPr txBox="1"/>
          <p:nvPr/>
        </p:nvSpPr>
        <p:spPr>
          <a:xfrm>
            <a:off x="6613855" y="4663440"/>
            <a:ext cx="4754880" cy="91440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Réaction non contrôlée et extrêmement rapide</a:t>
            </a:r>
            <a:endParaRPr lang="en-US" sz="1800" dirty="0"/>
          </a:p>
          <a:p>
            <a:pPr indent="0" marL="0">
              <a:spcAft>
                <a:spcPts val="400"/>
              </a:spcAft>
              <a:buNone/>
            </a:pPr>
            <a:r>
              <a:rPr lang="en-US" sz="1600" dirty="0">
                <a:solidFill>
                  <a:schemeClr val="tx1"/>
                </a:solidFill>
              </a:rPr>
              <a:t>→ explosion très rapide</a:t>
            </a:r>
            <a:endParaRPr lang="en-US" sz="1800" dirty="0"/>
          </a:p>
        </p:txBody>
      </p:sp>
      <p:sp>
        <p:nvSpPr>
          <p:cNvPr id="16" name="Conséquence"/>
          <p:cNvSpPr txBox="1"/>
          <p:nvPr/>
        </p:nvSpPr>
        <p:spPr>
          <a:xfrm>
            <a:off x="6613855" y="5669280"/>
            <a:ext cx="4754880" cy="548640"/>
          </a:xfrm>
          <a:prstGeom prst="rect">
            <a:avLst/>
          </a:prstGeom>
          <a:noFill/>
          <a:ln/>
        </p:spPr>
        <p:txBody>
          <a:bodyPr wrap="square" lIns="0" tIns="0" rIns="0" bIns="0" rtlCol="0" anchor="t"/>
          <a:lstStyle/>
          <a:p>
            <a:pPr indent="0" marL="0">
              <a:buNone/>
            </a:pPr>
            <a:r>
              <a:rPr lang="en-US" sz="1400" dirty="0">
                <a:solidFill>
                  <a:schemeClr val="tx1"/>
                </a:solidFill>
              </a:rPr>
              <a:t>Libération quasi instantanée d’une quantité considérable d’énergie, provoquant une explosion.</a:t>
            </a:r>
            <a:endParaRPr lang="en-US" sz="1400" dirty="0"/>
          </a:p>
        </p:txBody>
      </p:sp>
      <p:sp>
        <p:nvSpPr>
          <p:cNvPr id="17" name="Maîtrise"/>
          <p:cNvSpPr txBox="1"/>
          <p:nvPr/>
        </p:nvSpPr>
        <p:spPr>
          <a:xfrm>
            <a:off x="822960" y="5669280"/>
            <a:ext cx="4754880" cy="548640"/>
          </a:xfrm>
          <a:prstGeom prst="rect">
            <a:avLst/>
          </a:prstGeom>
          <a:noFill/>
          <a:ln/>
        </p:spPr>
        <p:txBody>
          <a:bodyPr wrap="square" lIns="0" tIns="0" rIns="0" bIns="0" rtlCol="0" anchor="t"/>
          <a:lstStyle/>
          <a:p>
            <a:pPr indent="0" marL="0">
              <a:buNone/>
            </a:pPr>
            <a:r>
              <a:rPr lang="en-US" sz="1400" dirty="0">
                <a:solidFill>
                  <a:schemeClr val="tx1"/>
                </a:solidFill>
              </a:rPr>
              <a:t>La réaction en chaîne est maîtrisée dans le réacteur.</a:t>
            </a:r>
            <a:endParaRPr lang="en-US" sz="1400" dirty="0"/>
          </a:p>
        </p:txBody>
      </p:sp>
      <p:sp>
        <p:nvSpPr>
          <p:cNvPr id="18" name="Pastille comparaison"/>
          <p:cNvSpPr/>
          <p:nvPr/>
        </p:nvSpPr>
        <p:spPr>
          <a:xfrm>
            <a:off x="5821528" y="3063240"/>
            <a:ext cx="548640" cy="548640"/>
          </a:xfrm>
          <a:prstGeom prst="ellipse">
            <a:avLst/>
          </a:prstGeom>
          <a:solidFill>
            <a:schemeClr val="bg1"/>
          </a:solidFill>
          <a:ln w="12700">
            <a:solidFill>
              <a:schemeClr val="accent6"/>
            </a:solidFill>
            <a:prstDash val="solid"/>
          </a:ln>
        </p:spPr>
      </p:sp>
      <p:sp>
        <p:nvSpPr>
          <p:cNvPr id="19" name="Texte comparaison"/>
          <p:cNvSpPr txBox="1"/>
          <p:nvPr/>
        </p:nvSpPr>
        <p:spPr>
          <a:xfrm>
            <a:off x="5821528" y="3063240"/>
            <a:ext cx="548640" cy="548640"/>
          </a:xfrm>
          <a:prstGeom prst="rect">
            <a:avLst/>
          </a:prstGeom>
          <a:noFill/>
          <a:ln/>
        </p:spPr>
        <p:txBody>
          <a:bodyPr wrap="square" lIns="0" tIns="0" rIns="0" bIns="0" rtlCol="0" anchor="ctr"/>
          <a:lstStyle/>
          <a:p>
            <a:pPr algn="ctr" indent="0" marL="0">
              <a:buNone/>
            </a:pPr>
            <a:r>
              <a:rPr lang="en-US" sz="1400" b="1" dirty="0">
                <a:solidFill>
                  <a:schemeClr val="accent6"/>
                </a:solidFill>
              </a:rPr>
              <a:t>ou</a:t>
            </a:r>
            <a:endParaRPr lang="en-US" sz="14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200" b="1" dirty="0">
                <a:solidFill>
                  <a:schemeClr val="tx2"/>
                </a:solidFill>
              </a:rPr>
              <a:t>Conclusion</a:t>
            </a:r>
            <a:endParaRPr lang="en-US" sz="3200" dirty="0"/>
          </a:p>
        </p:txBody>
      </p:sp>
      <p:sp>
        <p:nvSpPr>
          <p:cNvPr id="3" name="Présentation"/>
          <p:cNvSpPr/>
          <p:nvPr/>
        </p:nvSpPr>
        <p:spPr>
          <a:xfrm>
            <a:off x="9372600" y="457200"/>
            <a:ext cx="2267712" cy="475488"/>
          </a:xfrm>
          <a:prstGeom prst="roundRect">
            <a:avLst>
              <a:gd name="adj" fmla="val 50000"/>
            </a:avLst>
          </a:prstGeom>
          <a:solidFill>
            <a:schemeClr val="bg2"/>
          </a:solidFill>
          <a:ln w="12700">
            <a:solidFill>
              <a:schemeClr val="bg2"/>
            </a:solidFill>
            <a:prstDash val="solid"/>
          </a:ln>
        </p:spPr>
      </p:sp>
      <p:sp>
        <p:nvSpPr>
          <p:cNvPr id="4" name="Nom orateur"/>
          <p:cNvSpPr txBox="1"/>
          <p:nvPr/>
        </p:nvSpPr>
        <p:spPr>
          <a:xfrm>
            <a:off x="9372600" y="457200"/>
            <a:ext cx="2267712" cy="475488"/>
          </a:xfrm>
          <a:prstGeom prst="rect">
            <a:avLst/>
          </a:prstGeom>
          <a:noFill/>
          <a:ln/>
        </p:spPr>
        <p:txBody>
          <a:bodyPr wrap="square" lIns="0" tIns="0" rIns="0" bIns="0" rtlCol="0" anchor="ctr"/>
          <a:lstStyle/>
          <a:p>
            <a:pPr algn="ctr" indent="0" marL="0">
              <a:buNone/>
            </a:pPr>
            <a:r>
              <a:rPr lang="en-US" sz="1400" dirty="0">
                <a:solidFill>
                  <a:schemeClr val="accent6"/>
                </a:solidFill>
              </a:rPr>
              <a:t>Présentatrice : </a:t>
            </a:r>
            <a:pPr algn="ctr" indent="0" marL="0">
              <a:buNone/>
            </a:pPr>
            <a:r>
              <a:rPr lang="en-US" sz="1400" b="1" dirty="0">
                <a:solidFill>
                  <a:schemeClr val="tx2"/>
                </a:solidFill>
              </a:rPr>
              <a:t>Manon</a:t>
            </a:r>
            <a:endParaRPr lang="en-US" sz="1400" dirty="0"/>
          </a:p>
        </p:txBody>
      </p:sp>
      <p:sp>
        <p:nvSpPr>
          <p:cNvPr id="5" name="Idée principale"/>
          <p:cNvSpPr txBox="1"/>
          <p:nvPr/>
        </p:nvSpPr>
        <p:spPr>
          <a:xfrm>
            <a:off x="548640" y="1188720"/>
            <a:ext cx="11094415" cy="548640"/>
          </a:xfrm>
          <a:prstGeom prst="rect">
            <a:avLst/>
          </a:prstGeom>
          <a:noFill/>
          <a:ln/>
        </p:spPr>
        <p:txBody>
          <a:bodyPr wrap="square" lIns="0" tIns="0" rIns="0" bIns="0" rtlCol="0" anchor="ctr"/>
          <a:lstStyle/>
          <a:p>
            <a:pPr indent="0" marL="0">
              <a:buNone/>
            </a:pPr>
            <a:r>
              <a:rPr lang="en-US" sz="2000" dirty="0">
                <a:solidFill>
                  <a:schemeClr val="tx1"/>
                </a:solidFill>
              </a:rPr>
              <a:t>La fission est la division de noyaux lourds, avec libération d’une grande quantité d’énergie.</a:t>
            </a:r>
            <a:endParaRPr lang="en-US" sz="2000" dirty="0"/>
          </a:p>
        </p:txBody>
      </p:sp>
      <p:pic>
        <p:nvPicPr>
          <p:cNvPr id="6" name="Balance" descr="Balance avec une ampoule et une explosion stylisée">    </p:cNvPr>
          <p:cNvPicPr>
            <a:picLocks noChangeAspect="1"/>
          </p:cNvPicPr>
          <p:nvPr/>
        </p:nvPicPr>
        <p:blipFill>
          <a:blip r:embed="rId1"/>
          <a:stretch>
            <a:fillRect/>
          </a:stretch>
        </p:blipFill>
        <p:spPr>
          <a:xfrm>
            <a:off x="3306928" y="2011680"/>
            <a:ext cx="5577840" cy="3446513"/>
          </a:xfrm>
          <a:prstGeom prst="rect">
            <a:avLst/>
          </a:prstGeom>
        </p:spPr>
      </p:pic>
      <p:sp>
        <p:nvSpPr>
          <p:cNvPr id="7" name="Encadré électricité"/>
          <p:cNvSpPr/>
          <p:nvPr/>
        </p:nvSpPr>
        <p:spPr>
          <a:xfrm>
            <a:off x="548640" y="3049136"/>
            <a:ext cx="2606040" cy="1371600"/>
          </a:xfrm>
          <a:prstGeom prst="roundRect">
            <a:avLst>
              <a:gd name="adj" fmla="val 10000"/>
            </a:avLst>
          </a:prstGeom>
          <a:solidFill>
            <a:srgbClr val="E3F3EE"/>
          </a:solidFill>
          <a:ln w="15875">
            <a:solidFill>
              <a:schemeClr val="accent4"/>
            </a:solidFill>
            <a:prstDash val="solid"/>
          </a:ln>
        </p:spPr>
      </p:sp>
      <p:sp>
        <p:nvSpPr>
          <p:cNvPr id="8" name="Texte électricité"/>
          <p:cNvSpPr txBox="1"/>
          <p:nvPr/>
        </p:nvSpPr>
        <p:spPr>
          <a:xfrm>
            <a:off x="731520" y="3049136"/>
            <a:ext cx="2240280" cy="1371600"/>
          </a:xfrm>
          <a:prstGeom prst="rect">
            <a:avLst/>
          </a:prstGeom>
          <a:noFill/>
          <a:ln/>
        </p:spPr>
        <p:txBody>
          <a:bodyPr wrap="square" lIns="0" tIns="0" rIns="0" bIns="0" rtlCol="0" anchor="ctr"/>
          <a:lstStyle/>
          <a:p>
            <a:pPr indent="0" marL="0">
              <a:spcAft>
                <a:spcPts val="200"/>
              </a:spcAft>
              <a:buNone/>
            </a:pPr>
            <a:r>
              <a:rPr lang="en-US" sz="1600" b="1" dirty="0">
                <a:solidFill>
                  <a:schemeClr val="accent4"/>
                </a:solidFill>
              </a:rPr>
              <a:t>Utilisation civile : </a:t>
            </a:r>
            <a:endParaRPr lang="en-US" sz="1600" dirty="0"/>
          </a:p>
          <a:p>
            <a:pPr indent="0" marL="0">
              <a:spcAft>
                <a:spcPts val="200"/>
              </a:spcAft>
              <a:buNone/>
            </a:pPr>
            <a:r>
              <a:rPr lang="en-US" sz="2000" b="1" dirty="0">
                <a:solidFill>
                  <a:schemeClr val="tx2"/>
                </a:solidFill>
              </a:rPr>
              <a:t>électricité</a:t>
            </a:r>
            <a:endParaRPr lang="en-US" sz="1600" dirty="0"/>
          </a:p>
          <a:p>
            <a:pPr indent="0" marL="0">
              <a:spcAft>
                <a:spcPts val="200"/>
              </a:spcAft>
              <a:buNone/>
            </a:pPr>
            <a:r>
              <a:rPr lang="en-US" sz="1400" dirty="0">
                <a:solidFill>
                  <a:schemeClr val="tx1"/>
                </a:solidFill>
              </a:rPr>
              <a:t>application maîtrisée</a:t>
            </a:r>
            <a:endParaRPr lang="en-US" sz="1600" dirty="0"/>
          </a:p>
        </p:txBody>
      </p:sp>
      <p:sp>
        <p:nvSpPr>
          <p:cNvPr id="9" name="Encadré armes nucléaires"/>
          <p:cNvSpPr/>
          <p:nvPr/>
        </p:nvSpPr>
        <p:spPr>
          <a:xfrm>
            <a:off x="9037015" y="3049136"/>
            <a:ext cx="2606040" cy="1371600"/>
          </a:xfrm>
          <a:prstGeom prst="roundRect">
            <a:avLst>
              <a:gd name="adj" fmla="val 10000"/>
            </a:avLst>
          </a:prstGeom>
          <a:solidFill>
            <a:srgbClr val="FBE9E4"/>
          </a:solidFill>
          <a:ln w="15875">
            <a:solidFill>
              <a:schemeClr val="accent3"/>
            </a:solidFill>
            <a:prstDash val="solid"/>
          </a:ln>
        </p:spPr>
      </p:sp>
      <p:sp>
        <p:nvSpPr>
          <p:cNvPr id="10" name="Texte armes nucléaires"/>
          <p:cNvSpPr txBox="1"/>
          <p:nvPr/>
        </p:nvSpPr>
        <p:spPr>
          <a:xfrm>
            <a:off x="9219895" y="3049136"/>
            <a:ext cx="2240280" cy="1371600"/>
          </a:xfrm>
          <a:prstGeom prst="rect">
            <a:avLst/>
          </a:prstGeom>
          <a:noFill/>
          <a:ln/>
        </p:spPr>
        <p:txBody>
          <a:bodyPr wrap="square" lIns="0" tIns="0" rIns="0" bIns="0" rtlCol="0" anchor="ctr"/>
          <a:lstStyle/>
          <a:p>
            <a:pPr indent="0" marL="0">
              <a:spcAft>
                <a:spcPts val="200"/>
              </a:spcAft>
              <a:buNone/>
            </a:pPr>
            <a:r>
              <a:rPr lang="en-US" sz="1600" b="1" dirty="0">
                <a:solidFill>
                  <a:schemeClr val="accent3"/>
                </a:solidFill>
              </a:rPr>
              <a:t>Utilisation militaire : </a:t>
            </a:r>
            <a:endParaRPr lang="en-US" sz="1600" dirty="0"/>
          </a:p>
          <a:p>
            <a:pPr indent="0" marL="0">
              <a:spcAft>
                <a:spcPts val="200"/>
              </a:spcAft>
              <a:buNone/>
            </a:pPr>
            <a:r>
              <a:rPr lang="en-US" sz="2000" b="1" dirty="0">
                <a:solidFill>
                  <a:schemeClr val="tx2"/>
                </a:solidFill>
              </a:rPr>
              <a:t>armes nucléaires</a:t>
            </a:r>
            <a:endParaRPr lang="en-US" sz="1600" dirty="0"/>
          </a:p>
          <a:p>
            <a:pPr indent="0" marL="0">
              <a:spcAft>
                <a:spcPts val="200"/>
              </a:spcAft>
              <a:buNone/>
            </a:pPr>
            <a:r>
              <a:rPr lang="en-US" sz="1400" dirty="0">
                <a:solidFill>
                  <a:schemeClr val="tx1"/>
                </a:solidFill>
              </a:rPr>
              <a:t>réaction non contrôlée</a:t>
            </a:r>
            <a:endParaRPr lang="en-US" sz="16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Fission nucléaire">
  <a:themeElements>
    <a:clrScheme name="Fission nucléaire">
      <a:dk1>
        <a:srgbClr val="1E2D44"/>
      </a:dk1>
      <a:lt1>
        <a:srgbClr val="FFFFFF"/>
      </a:lt1>
      <a:dk2>
        <a:srgbClr val="102A4E"/>
      </a:dk2>
      <a:lt2>
        <a:srgbClr val="EAF5FF"/>
      </a:lt2>
      <a:accent1>
        <a:srgbClr val="4F94D6"/>
      </a:accent1>
      <a:accent2>
        <a:srgbClr val="F9C752"/>
      </a:accent2>
      <a:accent3>
        <a:srgbClr val="E57F6A"/>
      </a:accent3>
      <a:accent4>
        <a:srgbClr val="3F9C82"/>
      </a:accent4>
      <a:accent5>
        <a:srgbClr val="F6F9FD"/>
      </a:accent5>
      <a:accent6>
        <a:srgbClr val="6B7C93"/>
      </a:accent6>
      <a:hlink>
        <a:srgbClr val="4F94D6"/>
      </a:hlink>
      <a:folHlink>
        <a:srgbClr val="6B7C93"/>
      </a:folHlink>
    </a:clrScheme>
    <a:fontScheme name="Fission nucléair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Fission Nucléaire</dc:title>
  <dc:subject>Oral d’enseignement scientifique</dc:subject>
  <dc:creator>Coralie, Manon, Tom, Martin</dc:creator>
  <cp:lastModifiedBy>Coralie, Manon, Tom, Martin</cp:lastModifiedBy>
  <cp:revision>1</cp:revision>
  <dcterms:created xsi:type="dcterms:W3CDTF">2026-10-25T18:30:01Z</dcterms:created>
  <dcterms:modified xsi:type="dcterms:W3CDTF">2026-10-25T18:30:01Z</dcterms:modified>
</cp:coreProperties>
</file>