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Brown v. Board of Education (17 mai 1954) déclare la ségrégation scolaire inconstitutionnelle. Trois ans plus tard, l'Arkansas n'a toujours rien appliqué. Central High School comptait près de 2 000 élèves, tous blancs.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Elizabeth Eckford est arrivée seule le 4 septembre parce que sa famille n'avait pas le téléphone et n'a pas reçu le message de Daisy Bates, présidente de la NAACP en Arkansas, qui organisait les trajets. Le 23 septembre, les neuf entrent enfin, mais la foule oblige la police à les faire ressortir. Le 24, Eisenhower envoie 1 200 parachutistes de la 101e ; chaque élève reçoit un garde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neuf avaient entre 14 et 16 ans. Minnijean Brown est d'abord suspendue en décembre 1957, puis expulsée en février 1958 ; des cartons « One down… eight to go » circulent alors dans le lycée. Elle termine sa scolarité à New York.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L'envoi de la 101e aéroportée est le premier usage de l'armée fédérale dans le Sud pour protéger les droits civiques depuis la Reconstruction. L'année suivante, Faubus ferme les lycées de Little Rock : c'est « The Lost Year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High School est le seul établissement scolaire des États-Unis encore en activité à l'intérieur d'un site historique national.
Crédits photographiques (toutes les images viennent de Wikimedia Commons) :
• Central High School 2024 — Xiquinho Silva, CC BY 2.0
• Rassemblement ségrégationniste 1959 — John T. Bledsoe, Library of Congress ppmsca.03090, domaine public
• Elizabeth Eckford 1957 — Will Counts, diffusée par l'Associated Press sans mention de copyright, domaine public
• 101e aéroportée — U.S. Army, domaine public
• Portrait d'Eisenhower 1959 — Maison-Blanche, domaine public
• Orval Faubus — University of Arkansas, annuaire Razorback 1959, domaine public
• Les neuf à New York — Walter Albertin, Library of Congress cph.3c25125, domaine public
• Médaille d'or du Congrès — United States Mint, domaine public
• Ernest Green, Carlotta Walls LaNier, Terrence Roberts — Lauren Gerson, LBJ Library, domaine public
• Banc commémoratif — Ser Amantio di Nicolao, CC BY-SA 4.0
• Melba Pattillo Beals — U.S. Army, CC BY 2.0
• Portraits « hier et aujourd'hui » — Adam Jones, Ph.D., 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8"/>
        </a:solidFill>
      </p:bgPr>
    </p:bg>
    <p:spTree>
      <p:nvGrpSpPr>
        <p:cNvPr id="1" name=""/>
        <p:cNvGrpSpPr/>
        <p:nvPr/>
      </p:nvGrpSpPr>
      <p:grpSpPr>
        <a:xfrm>
          <a:off x="0" y="0"/>
          <a:ext cx="0" cy="0"/>
          <a:chOff x="0" y="0"/>
          <a:chExt cx="0" cy="0"/>
        </a:xfrm>
      </p:grpSpPr>
      <p:sp>
        <p:nvSpPr>
          <p:cNvPr id="2" name="Text 0"/>
          <p:cNvSpPr txBox="1"/>
          <p:nvPr/>
        </p:nvSpPr>
        <p:spPr>
          <a:xfrm>
            <a:off x="685800" y="658368"/>
            <a:ext cx="7315200" cy="256032"/>
          </a:xfrm>
          <a:prstGeom prst="rect">
            <a:avLst/>
          </a:prstGeom>
          <a:noFill/>
          <a:ln/>
        </p:spPr>
        <p:txBody>
          <a:bodyPr wrap="square" lIns="0" tIns="0" rIns="0" bIns="0" rtlCol="0" anchor="ctr"/>
          <a:lstStyle/>
          <a:p>
            <a:pPr indent="0" marL="0">
              <a:buNone/>
            </a:pPr>
            <a:r>
              <a:rPr lang="en-US" sz="1000" b="1" spc="240" kern="0" dirty="0">
                <a:solidFill>
                  <a:srgbClr val="CD7264"/>
                </a:solidFill>
                <a:latin typeface="Arial" pitchFamily="34" charset="0"/>
                <a:ea typeface="Arial" pitchFamily="34" charset="-122"/>
                <a:cs typeface="Arial" pitchFamily="34" charset="-120"/>
              </a:rPr>
              <a:t>LITTLE ROCK, ARKANSAS</a:t>
            </a:r>
            <a:endParaRPr lang="en-US" sz="1000" dirty="0"/>
          </a:p>
        </p:txBody>
      </p:sp>
      <p:sp>
        <p:nvSpPr>
          <p:cNvPr id="3" name="Text 1"/>
          <p:cNvSpPr txBox="1"/>
          <p:nvPr/>
        </p:nvSpPr>
        <p:spPr>
          <a:xfrm>
            <a:off x="685800" y="1024128"/>
            <a:ext cx="5669280" cy="2148840"/>
          </a:xfrm>
          <a:prstGeom prst="rect">
            <a:avLst/>
          </a:prstGeom>
          <a:noFill/>
          <a:ln/>
        </p:spPr>
        <p:txBody>
          <a:bodyPr wrap="square" lIns="0" tIns="0" rIns="0" bIns="0" rtlCol="0" anchor="ctr"/>
          <a:lstStyle/>
          <a:p>
            <a:pPr indent="0" marL="0">
              <a:lnSpc>
                <a:spcPct val="86000"/>
              </a:lnSpc>
              <a:buNone/>
            </a:pPr>
            <a:r>
              <a:rPr lang="en-US" sz="5000" b="1" spc="-100" kern="0" dirty="0">
                <a:solidFill>
                  <a:srgbClr val="FFFFFF"/>
                </a:solidFill>
                <a:latin typeface="Arial" pitchFamily="34" charset="0"/>
                <a:ea typeface="Arial" pitchFamily="34" charset="-122"/>
                <a:cs typeface="Arial" pitchFamily="34" charset="-120"/>
              </a:rPr>
              <a:t>LITTLE</a:t>
            </a:r>
            <a:endParaRPr lang="en-US" sz="5000" dirty="0"/>
          </a:p>
          <a:p>
            <a:pPr indent="0" marL="0">
              <a:lnSpc>
                <a:spcPct val="86000"/>
              </a:lnSpc>
              <a:buNone/>
            </a:pPr>
            <a:r>
              <a:rPr lang="en-US" sz="5000" b="1" spc="-100" kern="0" dirty="0">
                <a:solidFill>
                  <a:srgbClr val="FFFFFF"/>
                </a:solidFill>
                <a:latin typeface="Arial" pitchFamily="34" charset="0"/>
                <a:ea typeface="Arial" pitchFamily="34" charset="-122"/>
                <a:cs typeface="Arial" pitchFamily="34" charset="-120"/>
              </a:rPr>
              <a:t>ROCK</a:t>
            </a:r>
            <a:endParaRPr lang="en-US" sz="5000" dirty="0"/>
          </a:p>
          <a:p>
            <a:pPr indent="0" marL="0">
              <a:lnSpc>
                <a:spcPct val="86000"/>
              </a:lnSpc>
              <a:buNone/>
            </a:pPr>
            <a:r>
              <a:rPr lang="en-US" sz="5000" b="1" spc="-100" kern="0" dirty="0">
                <a:solidFill>
                  <a:srgbClr val="FFFFFF"/>
                </a:solidFill>
                <a:latin typeface="Arial" pitchFamily="34" charset="0"/>
                <a:ea typeface="Arial" pitchFamily="34" charset="-122"/>
                <a:cs typeface="Arial" pitchFamily="34" charset="-120"/>
              </a:rPr>
              <a:t>NINE</a:t>
            </a:r>
            <a:endParaRPr lang="en-US" sz="5000" dirty="0"/>
          </a:p>
        </p:txBody>
      </p:sp>
      <p:sp>
        <p:nvSpPr>
          <p:cNvPr id="4" name="Text 2"/>
          <p:cNvSpPr txBox="1"/>
          <p:nvPr/>
        </p:nvSpPr>
        <p:spPr>
          <a:xfrm>
            <a:off x="685800" y="3246120"/>
            <a:ext cx="5669280" cy="411480"/>
          </a:xfrm>
          <a:prstGeom prst="rect">
            <a:avLst/>
          </a:prstGeom>
          <a:noFill/>
          <a:ln/>
        </p:spPr>
        <p:txBody>
          <a:bodyPr wrap="square" lIns="0" tIns="0" rIns="0" bIns="0" rtlCol="0" anchor="ctr"/>
          <a:lstStyle/>
          <a:p>
            <a:pPr indent="0" marL="0">
              <a:buNone/>
            </a:pPr>
            <a:r>
              <a:rPr lang="en-US" sz="2100" spc="100" kern="0" dirty="0">
                <a:solidFill>
                  <a:srgbClr val="AEB4BA"/>
                </a:solidFill>
                <a:latin typeface="Arial" pitchFamily="34" charset="0"/>
                <a:ea typeface="Arial" pitchFamily="34" charset="-122"/>
                <a:cs typeface="Arial" pitchFamily="34" charset="-120"/>
              </a:rPr>
              <a:t>SEPTEMBRE 1957</a:t>
            </a:r>
            <a:endParaRPr lang="en-US" sz="2100" dirty="0"/>
          </a:p>
        </p:txBody>
      </p:sp>
      <p:sp>
        <p:nvSpPr>
          <p:cNvPr id="5" name="Text 3"/>
          <p:cNvSpPr txBox="1"/>
          <p:nvPr/>
        </p:nvSpPr>
        <p:spPr>
          <a:xfrm>
            <a:off x="685800" y="3977640"/>
            <a:ext cx="5669280" cy="219456"/>
          </a:xfrm>
          <a:prstGeom prst="rect">
            <a:avLst/>
          </a:prstGeom>
          <a:noFill/>
          <a:ln/>
        </p:spPr>
        <p:txBody>
          <a:bodyPr wrap="square" lIns="0" tIns="0" rIns="0" bIns="0" rtlCol="0" anchor="ctr"/>
          <a:lstStyle/>
          <a:p>
            <a:pPr indent="0" marL="0">
              <a:buNone/>
            </a:pPr>
            <a:r>
              <a:rPr lang="en-US" sz="900" b="1" spc="180" kern="0" dirty="0">
                <a:solidFill>
                  <a:srgbClr val="CD7264"/>
                </a:solidFill>
                <a:latin typeface="Arial" pitchFamily="34" charset="0"/>
                <a:ea typeface="Arial" pitchFamily="34" charset="-122"/>
                <a:cs typeface="Arial" pitchFamily="34" charset="-120"/>
              </a:rPr>
              <a:t>17 MAI 1954</a:t>
            </a:r>
            <a:endParaRPr lang="en-US" sz="900" dirty="0"/>
          </a:p>
        </p:txBody>
      </p:sp>
      <p:sp>
        <p:nvSpPr>
          <p:cNvPr id="6" name="Text 4"/>
          <p:cNvSpPr txBox="1"/>
          <p:nvPr/>
        </p:nvSpPr>
        <p:spPr>
          <a:xfrm>
            <a:off x="685800" y="4197096"/>
            <a:ext cx="5577840" cy="548640"/>
          </a:xfrm>
          <a:prstGeom prst="rect">
            <a:avLst/>
          </a:prstGeom>
          <a:noFill/>
          <a:ln/>
        </p:spPr>
        <p:txBody>
          <a:bodyPr wrap="square" lIns="0" tIns="0" rIns="0" bIns="0" rtlCol="0" anchor="ctr"/>
          <a:lstStyle/>
          <a:p>
            <a:pPr indent="0" marL="0">
              <a:lnSpc>
                <a:spcPct val="108000"/>
              </a:lnSpc>
              <a:buNone/>
            </a:pPr>
            <a:r>
              <a:rPr lang="en-US" sz="1250" dirty="0">
                <a:solidFill>
                  <a:srgbClr val="D8DBDE"/>
                </a:solidFill>
                <a:latin typeface="Cambria" pitchFamily="34" charset="0"/>
                <a:ea typeface="Cambria" pitchFamily="34" charset="-122"/>
                <a:cs typeface="Cambria" pitchFamily="34" charset="-120"/>
              </a:rPr>
              <a:t>Brown v. Board of Education : la Cour suprême juge la ségrégation scolaire inconstitutionnelle.</a:t>
            </a:r>
            <a:endParaRPr lang="en-US" sz="1250" dirty="0"/>
          </a:p>
        </p:txBody>
      </p:sp>
      <p:sp>
        <p:nvSpPr>
          <p:cNvPr id="7" name="Text 5"/>
          <p:cNvSpPr txBox="1"/>
          <p:nvPr/>
        </p:nvSpPr>
        <p:spPr>
          <a:xfrm>
            <a:off x="685800" y="4818888"/>
            <a:ext cx="5669280" cy="219456"/>
          </a:xfrm>
          <a:prstGeom prst="rect">
            <a:avLst/>
          </a:prstGeom>
          <a:noFill/>
          <a:ln/>
        </p:spPr>
        <p:txBody>
          <a:bodyPr wrap="square" lIns="0" tIns="0" rIns="0" bIns="0" rtlCol="0" anchor="ctr"/>
          <a:lstStyle/>
          <a:p>
            <a:pPr indent="0" marL="0">
              <a:buNone/>
            </a:pPr>
            <a:r>
              <a:rPr lang="en-US" sz="900" b="1" spc="180" kern="0" dirty="0">
                <a:solidFill>
                  <a:srgbClr val="CD7264"/>
                </a:solidFill>
                <a:latin typeface="Arial" pitchFamily="34" charset="0"/>
                <a:ea typeface="Arial" pitchFamily="34" charset="-122"/>
                <a:cs typeface="Arial" pitchFamily="34" charset="-120"/>
              </a:rPr>
              <a:t>TROIS ANS PLUS TARD</a:t>
            </a:r>
            <a:endParaRPr lang="en-US" sz="900" dirty="0"/>
          </a:p>
        </p:txBody>
      </p:sp>
      <p:sp>
        <p:nvSpPr>
          <p:cNvPr id="8" name="Text 6"/>
          <p:cNvSpPr txBox="1"/>
          <p:nvPr/>
        </p:nvSpPr>
        <p:spPr>
          <a:xfrm>
            <a:off x="685800" y="5038344"/>
            <a:ext cx="5577840" cy="548640"/>
          </a:xfrm>
          <a:prstGeom prst="rect">
            <a:avLst/>
          </a:prstGeom>
          <a:noFill/>
          <a:ln/>
        </p:spPr>
        <p:txBody>
          <a:bodyPr wrap="square" lIns="0" tIns="0" rIns="0" bIns="0" rtlCol="0" anchor="ctr"/>
          <a:lstStyle/>
          <a:p>
            <a:pPr indent="0" marL="0">
              <a:lnSpc>
                <a:spcPct val="108000"/>
              </a:lnSpc>
              <a:buNone/>
            </a:pPr>
            <a:r>
              <a:rPr lang="en-US" sz="1250" dirty="0">
                <a:solidFill>
                  <a:srgbClr val="D8DBDE"/>
                </a:solidFill>
                <a:latin typeface="Cambria" pitchFamily="34" charset="0"/>
                <a:ea typeface="Cambria" pitchFamily="34" charset="-122"/>
                <a:cs typeface="Cambria" pitchFamily="34" charset="-120"/>
              </a:rPr>
              <a:t>Dans le Sud, presque rien n'a bougé. Les États retardent, contournent, refusent.</a:t>
            </a:r>
            <a:endParaRPr lang="en-US" sz="1250" dirty="0"/>
          </a:p>
        </p:txBody>
      </p:sp>
      <p:sp>
        <p:nvSpPr>
          <p:cNvPr id="9" name="Text 7"/>
          <p:cNvSpPr txBox="1"/>
          <p:nvPr/>
        </p:nvSpPr>
        <p:spPr>
          <a:xfrm>
            <a:off x="685800" y="5660136"/>
            <a:ext cx="5669280" cy="219456"/>
          </a:xfrm>
          <a:prstGeom prst="rect">
            <a:avLst/>
          </a:prstGeom>
          <a:noFill/>
          <a:ln/>
        </p:spPr>
        <p:txBody>
          <a:bodyPr wrap="square" lIns="0" tIns="0" rIns="0" bIns="0" rtlCol="0" anchor="ctr"/>
          <a:lstStyle/>
          <a:p>
            <a:pPr indent="0" marL="0">
              <a:buNone/>
            </a:pPr>
            <a:r>
              <a:rPr lang="en-US" sz="900" b="1" spc="180" kern="0" dirty="0">
                <a:solidFill>
                  <a:srgbClr val="CD7264"/>
                </a:solidFill>
                <a:latin typeface="Arial" pitchFamily="34" charset="0"/>
                <a:ea typeface="Arial" pitchFamily="34" charset="-122"/>
                <a:cs typeface="Arial" pitchFamily="34" charset="-120"/>
              </a:rPr>
              <a:t>RENTRÉE 1957</a:t>
            </a:r>
            <a:endParaRPr lang="en-US" sz="900" dirty="0"/>
          </a:p>
        </p:txBody>
      </p:sp>
      <p:sp>
        <p:nvSpPr>
          <p:cNvPr id="10" name="Text 8"/>
          <p:cNvSpPr txBox="1"/>
          <p:nvPr/>
        </p:nvSpPr>
        <p:spPr>
          <a:xfrm>
            <a:off x="685800" y="5879592"/>
            <a:ext cx="5577840" cy="548640"/>
          </a:xfrm>
          <a:prstGeom prst="rect">
            <a:avLst/>
          </a:prstGeom>
          <a:noFill/>
          <a:ln/>
        </p:spPr>
        <p:txBody>
          <a:bodyPr wrap="square" lIns="0" tIns="0" rIns="0" bIns="0" rtlCol="0" anchor="ctr"/>
          <a:lstStyle/>
          <a:p>
            <a:pPr indent="0" marL="0">
              <a:lnSpc>
                <a:spcPct val="108000"/>
              </a:lnSpc>
              <a:buNone/>
            </a:pPr>
            <a:r>
              <a:rPr lang="en-US" sz="1250" dirty="0">
                <a:solidFill>
                  <a:srgbClr val="D8DBDE"/>
                </a:solidFill>
                <a:latin typeface="Cambria" pitchFamily="34" charset="0"/>
                <a:ea typeface="Cambria" pitchFamily="34" charset="-122"/>
                <a:cs typeface="Cambria" pitchFamily="34" charset="-120"/>
              </a:rPr>
              <a:t>Neuf adolescents noirs s'inscrivent à Central High School, lycée blanc de près de 2 000 élèves.</a:t>
            </a:r>
            <a:endParaRPr lang="en-US" sz="1250" dirty="0"/>
          </a:p>
        </p:txBody>
      </p:sp>
      <p:pic>
        <p:nvPicPr>
          <p:cNvPr id="11" name="Image 0" descr="/home/user/Kiffclub-/little-rock-nine/images/central2024.jpg">    </p:cNvPr>
          <p:cNvPicPr>
            <a:picLocks noChangeAspect="1"/>
          </p:cNvPicPr>
          <p:nvPr/>
        </p:nvPicPr>
        <p:blipFill>
          <a:blip r:embed="rId1"/>
          <a:srcRect l="0" r="0" t="0" b="0"/>
          <a:stretch/>
        </p:blipFill>
        <p:spPr>
          <a:xfrm>
            <a:off x="6812280" y="658368"/>
            <a:ext cx="4709160" cy="2788920"/>
          </a:xfrm>
          <a:prstGeom prst="rect">
            <a:avLst/>
          </a:prstGeom>
        </p:spPr>
      </p:pic>
      <p:sp>
        <p:nvSpPr>
          <p:cNvPr id="12" name="Text 9"/>
          <p:cNvSpPr txBox="1"/>
          <p:nvPr/>
        </p:nvSpPr>
        <p:spPr>
          <a:xfrm>
            <a:off x="6812280" y="3520440"/>
            <a:ext cx="4709160"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Central High School aujourd'hui — Xiquinho Silva, CC BY 2.0</a:t>
            </a:r>
            <a:endParaRPr lang="en-US" sz="750" dirty="0"/>
          </a:p>
        </p:txBody>
      </p:sp>
      <p:pic>
        <p:nvPicPr>
          <p:cNvPr id="13" name="Image 1" descr="/home/user/Kiffclub-/little-rock-nine/images/protest1959.jpg">    </p:cNvPr>
          <p:cNvPicPr>
            <a:picLocks noChangeAspect="1"/>
          </p:cNvPicPr>
          <p:nvPr/>
        </p:nvPicPr>
        <p:blipFill>
          <a:blip r:embed="rId2"/>
          <a:srcRect l="0" r="0" t="0" b="0"/>
          <a:stretch/>
        </p:blipFill>
        <p:spPr>
          <a:xfrm>
            <a:off x="6812280" y="3950208"/>
            <a:ext cx="4709160" cy="2240280"/>
          </a:xfrm>
          <a:prstGeom prst="rect">
            <a:avLst/>
          </a:prstGeom>
        </p:spPr>
      </p:pic>
      <p:sp>
        <p:nvSpPr>
          <p:cNvPr id="14" name="Text 10"/>
          <p:cNvSpPr txBox="1"/>
          <p:nvPr/>
        </p:nvSpPr>
        <p:spPr>
          <a:xfrm>
            <a:off x="6812280" y="6263640"/>
            <a:ext cx="4709160"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Rassemblement ségrégationniste, Capitole de l'Arkansas, 1959 — John T. Bledsoe, Library of Congress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2F3"/>
        </a:solidFill>
      </p:bgPr>
    </p:bg>
    <p:spTree>
      <p:nvGrpSpPr>
        <p:cNvPr id="1" name=""/>
        <p:cNvGrpSpPr/>
        <p:nvPr/>
      </p:nvGrpSpPr>
      <p:grpSpPr>
        <a:xfrm>
          <a:off x="0" y="0"/>
          <a:ext cx="0" cy="0"/>
          <a:chOff x="0" y="0"/>
          <a:chExt cx="0" cy="0"/>
        </a:xfrm>
      </p:grpSpPr>
      <p:sp>
        <p:nvSpPr>
          <p:cNvPr id="2" name="Text 0"/>
          <p:cNvSpPr txBox="1"/>
          <p:nvPr/>
        </p:nvSpPr>
        <p:spPr>
          <a:xfrm>
            <a:off x="685800" y="502920"/>
            <a:ext cx="7315200" cy="256032"/>
          </a:xfrm>
          <a:prstGeom prst="rect">
            <a:avLst/>
          </a:prstGeom>
          <a:noFill/>
          <a:ln/>
        </p:spPr>
        <p:txBody>
          <a:bodyPr wrap="square" lIns="0" tIns="0" rIns="0" bIns="0" rtlCol="0" anchor="ctr"/>
          <a:lstStyle/>
          <a:p>
            <a:pPr indent="0" marL="0">
              <a:buNone/>
            </a:pPr>
            <a:r>
              <a:rPr lang="en-US" sz="1000" b="1" spc="240" kern="0" dirty="0">
                <a:solidFill>
                  <a:srgbClr val="8F2F24"/>
                </a:solidFill>
                <a:latin typeface="Arial" pitchFamily="34" charset="0"/>
                <a:ea typeface="Arial" pitchFamily="34" charset="-122"/>
                <a:cs typeface="Arial" pitchFamily="34" charset="-120"/>
              </a:rPr>
              <a:t>2 → 25 SEPTEMBRE 1957</a:t>
            </a:r>
            <a:endParaRPr lang="en-US" sz="1000" dirty="0"/>
          </a:p>
        </p:txBody>
      </p:sp>
      <p:sp>
        <p:nvSpPr>
          <p:cNvPr id="3" name="Text 1"/>
          <p:cNvSpPr txBox="1"/>
          <p:nvPr/>
        </p:nvSpPr>
        <p:spPr>
          <a:xfrm>
            <a:off x="685800" y="822960"/>
            <a:ext cx="6949440" cy="1051560"/>
          </a:xfrm>
          <a:prstGeom prst="rect">
            <a:avLst/>
          </a:prstGeom>
          <a:noFill/>
          <a:ln/>
        </p:spPr>
        <p:txBody>
          <a:bodyPr wrap="square" lIns="0" tIns="0" rIns="0" bIns="0" rtlCol="0" anchor="ctr"/>
          <a:lstStyle/>
          <a:p>
            <a:pPr indent="0" marL="0">
              <a:lnSpc>
                <a:spcPct val="92000"/>
              </a:lnSpc>
              <a:buNone/>
            </a:pPr>
            <a:r>
              <a:rPr lang="en-US" sz="3400" b="1" spc="-30" kern="0" dirty="0">
                <a:solidFill>
                  <a:srgbClr val="141618"/>
                </a:solidFill>
                <a:latin typeface="Arial" pitchFamily="34" charset="0"/>
                <a:ea typeface="Arial" pitchFamily="34" charset="-122"/>
                <a:cs typeface="Arial" pitchFamily="34" charset="-120"/>
              </a:rPr>
              <a:t>VINGT-TROIS JOURS</a:t>
            </a:r>
            <a:endParaRPr lang="en-US" sz="3400" dirty="0"/>
          </a:p>
          <a:p>
            <a:pPr indent="0" marL="0">
              <a:lnSpc>
                <a:spcPct val="92000"/>
              </a:lnSpc>
              <a:buNone/>
            </a:pPr>
            <a:r>
              <a:rPr lang="en-US" sz="3400" b="1" spc="-30" kern="0" dirty="0">
                <a:solidFill>
                  <a:srgbClr val="141618"/>
                </a:solidFill>
                <a:latin typeface="Arial" pitchFamily="34" charset="0"/>
                <a:ea typeface="Arial" pitchFamily="34" charset="-122"/>
                <a:cs typeface="Arial" pitchFamily="34" charset="-120"/>
              </a:rPr>
              <a:t>DEVANT UNE PORTE</a:t>
            </a:r>
            <a:endParaRPr lang="en-US" sz="3400" dirty="0"/>
          </a:p>
        </p:txBody>
      </p:sp>
      <p:pic>
        <p:nvPicPr>
          <p:cNvPr id="4" name="Image 0" descr="/home/user/Kiffclub-/little-rock-nine/images/faubus.jpg">    </p:cNvPr>
          <p:cNvPicPr>
            <a:picLocks noChangeAspect="1"/>
          </p:cNvPicPr>
          <p:nvPr/>
        </p:nvPicPr>
        <p:blipFill>
          <a:blip r:embed="rId1"/>
          <a:srcRect l="0" r="0" t="0" b="0"/>
          <a:stretch/>
        </p:blipFill>
        <p:spPr>
          <a:xfrm>
            <a:off x="10561320" y="566928"/>
            <a:ext cx="960120" cy="960120"/>
          </a:xfrm>
          <a:prstGeom prst="ellipse">
            <a:avLst/>
          </a:prstGeom>
        </p:spPr>
      </p:pic>
      <p:sp>
        <p:nvSpPr>
          <p:cNvPr id="5" name="Text 2"/>
          <p:cNvSpPr txBox="1"/>
          <p:nvPr/>
        </p:nvSpPr>
        <p:spPr>
          <a:xfrm>
            <a:off x="7772400" y="603504"/>
            <a:ext cx="2651760" cy="914400"/>
          </a:xfrm>
          <a:prstGeom prst="rect">
            <a:avLst/>
          </a:prstGeom>
          <a:noFill/>
          <a:ln/>
        </p:spPr>
        <p:txBody>
          <a:bodyPr wrap="square" lIns="0" tIns="0" rIns="0" bIns="0" rtlCol="0" anchor="ctr"/>
          <a:lstStyle/>
          <a:p>
            <a:pPr algn="r" indent="0" marL="0">
              <a:lnSpc>
                <a:spcPct val="105000"/>
              </a:lnSpc>
              <a:buNone/>
            </a:pPr>
            <a:r>
              <a:rPr lang="en-US" sz="1050" b="1" spc="100" kern="0" dirty="0">
                <a:solidFill>
                  <a:srgbClr val="141618"/>
                </a:solidFill>
                <a:latin typeface="Arial" pitchFamily="34" charset="0"/>
                <a:ea typeface="Arial" pitchFamily="34" charset="-122"/>
                <a:cs typeface="Arial" pitchFamily="34" charset="-120"/>
              </a:rPr>
              <a:t>ORVAL FAUBUS</a:t>
            </a:r>
            <a:endParaRPr lang="en-US" sz="1050" dirty="0"/>
          </a:p>
          <a:p>
            <a:pPr algn="r" indent="0" marL="0">
              <a:lnSpc>
                <a:spcPct val="105000"/>
              </a:lnSpc>
              <a:buNone/>
            </a:pPr>
            <a:r>
              <a:rPr lang="en-US" sz="900" dirty="0">
                <a:solidFill>
                  <a:srgbClr val="787F86"/>
                </a:solidFill>
                <a:latin typeface="Cambria" pitchFamily="34" charset="0"/>
                <a:ea typeface="Cambria" pitchFamily="34" charset="-122"/>
                <a:cs typeface="Cambria" pitchFamily="34" charset="-120"/>
              </a:rPr>
              <a:t>Gouverneur de l'Arkansas. Il envoie la Garde nationale bloquer l'entrée du lycée.</a:t>
            </a:r>
            <a:endParaRPr lang="en-US" sz="1050" dirty="0"/>
          </a:p>
        </p:txBody>
      </p:sp>
      <p:sp>
        <p:nvSpPr>
          <p:cNvPr id="6" name="Shape 3"/>
          <p:cNvSpPr/>
          <p:nvPr/>
        </p:nvSpPr>
        <p:spPr>
          <a:xfrm>
            <a:off x="731520" y="2212848"/>
            <a:ext cx="10607040" cy="0"/>
          </a:xfrm>
          <a:prstGeom prst="line">
            <a:avLst/>
          </a:prstGeom>
          <a:noFill/>
          <a:ln w="12700">
            <a:solidFill>
              <a:srgbClr val="D2D5D9"/>
            </a:solidFill>
            <a:prstDash val="solid"/>
          </a:ln>
        </p:spPr>
      </p:sp>
      <p:sp>
        <p:nvSpPr>
          <p:cNvPr id="7" name="Shape 4"/>
          <p:cNvSpPr/>
          <p:nvPr/>
        </p:nvSpPr>
        <p:spPr>
          <a:xfrm>
            <a:off x="694944" y="2162556"/>
            <a:ext cx="100584" cy="100584"/>
          </a:xfrm>
          <a:prstGeom prst="ellipse">
            <a:avLst/>
          </a:prstGeom>
          <a:solidFill>
            <a:srgbClr val="F1F2F3"/>
          </a:solidFill>
          <a:ln w="9525">
            <a:solidFill>
              <a:srgbClr val="787F86"/>
            </a:solidFill>
            <a:prstDash val="solid"/>
          </a:ln>
        </p:spPr>
      </p:sp>
      <p:sp>
        <p:nvSpPr>
          <p:cNvPr id="8" name="Text 5"/>
          <p:cNvSpPr txBox="1"/>
          <p:nvPr/>
        </p:nvSpPr>
        <p:spPr>
          <a:xfrm>
            <a:off x="685800" y="2359152"/>
            <a:ext cx="1975104" cy="219456"/>
          </a:xfrm>
          <a:prstGeom prst="rect">
            <a:avLst/>
          </a:prstGeom>
          <a:noFill/>
          <a:ln/>
        </p:spPr>
        <p:txBody>
          <a:bodyPr wrap="square" lIns="0" tIns="0" rIns="0" bIns="0" rtlCol="0" anchor="ctr"/>
          <a:lstStyle/>
          <a:p>
            <a:pPr indent="0" marL="0">
              <a:buNone/>
            </a:pPr>
            <a:r>
              <a:rPr lang="en-US" sz="1050" b="1" spc="140" kern="0" dirty="0">
                <a:solidFill>
                  <a:srgbClr val="8F2F24"/>
                </a:solidFill>
                <a:latin typeface="Arial" pitchFamily="34" charset="0"/>
                <a:ea typeface="Arial" pitchFamily="34" charset="-122"/>
                <a:cs typeface="Arial" pitchFamily="34" charset="-120"/>
              </a:rPr>
              <a:t>2 SEPT.</a:t>
            </a:r>
            <a:endParaRPr lang="en-US" sz="1050" dirty="0"/>
          </a:p>
        </p:txBody>
      </p:sp>
      <p:sp>
        <p:nvSpPr>
          <p:cNvPr id="9" name="Text 6"/>
          <p:cNvSpPr txBox="1"/>
          <p:nvPr/>
        </p:nvSpPr>
        <p:spPr>
          <a:xfrm>
            <a:off x="685800" y="2596896"/>
            <a:ext cx="1975104" cy="960120"/>
          </a:xfrm>
          <a:prstGeom prst="rect">
            <a:avLst/>
          </a:prstGeom>
          <a:noFill/>
          <a:ln/>
        </p:spPr>
        <p:txBody>
          <a:bodyPr wrap="square" lIns="0" tIns="0" rIns="0" bIns="0" rtlCol="0" anchor="ctr"/>
          <a:lstStyle/>
          <a:p>
            <a:pPr indent="0" marL="0">
              <a:lnSpc>
                <a:spcPct val="106000"/>
              </a:lnSpc>
              <a:buNone/>
            </a:pPr>
            <a:r>
              <a:rPr lang="en-US" sz="1000" dirty="0">
                <a:solidFill>
                  <a:srgbClr val="31363B"/>
                </a:solidFill>
                <a:latin typeface="Cambria" pitchFamily="34" charset="0"/>
                <a:ea typeface="Cambria" pitchFamily="34" charset="-122"/>
                <a:cs typeface="Cambria" pitchFamily="34" charset="-120"/>
              </a:rPr>
              <a:t>Le gouverneur Faubus déploie la Garde nationale d'Arkansas « pour maintenir l'ordre ». Elle bloque l'entrée.</a:t>
            </a:r>
            <a:endParaRPr lang="en-US" sz="1000" dirty="0"/>
          </a:p>
        </p:txBody>
      </p:sp>
      <p:sp>
        <p:nvSpPr>
          <p:cNvPr id="10" name="Shape 7"/>
          <p:cNvSpPr/>
          <p:nvPr/>
        </p:nvSpPr>
        <p:spPr>
          <a:xfrm>
            <a:off x="2898648" y="2162556"/>
            <a:ext cx="100584" cy="100584"/>
          </a:xfrm>
          <a:prstGeom prst="ellipse">
            <a:avLst/>
          </a:prstGeom>
          <a:solidFill>
            <a:srgbClr val="8F2F24"/>
          </a:solidFill>
          <a:ln w="9525">
            <a:solidFill>
              <a:srgbClr val="8F2F24"/>
            </a:solidFill>
            <a:prstDash val="solid"/>
          </a:ln>
        </p:spPr>
      </p:sp>
      <p:sp>
        <p:nvSpPr>
          <p:cNvPr id="11" name="Text 8"/>
          <p:cNvSpPr txBox="1"/>
          <p:nvPr/>
        </p:nvSpPr>
        <p:spPr>
          <a:xfrm>
            <a:off x="2889504" y="2359152"/>
            <a:ext cx="1975104" cy="219456"/>
          </a:xfrm>
          <a:prstGeom prst="rect">
            <a:avLst/>
          </a:prstGeom>
          <a:noFill/>
          <a:ln/>
        </p:spPr>
        <p:txBody>
          <a:bodyPr wrap="square" lIns="0" tIns="0" rIns="0" bIns="0" rtlCol="0" anchor="ctr"/>
          <a:lstStyle/>
          <a:p>
            <a:pPr indent="0" marL="0">
              <a:buNone/>
            </a:pPr>
            <a:r>
              <a:rPr lang="en-US" sz="1050" b="1" spc="140" kern="0" dirty="0">
                <a:solidFill>
                  <a:srgbClr val="8F2F24"/>
                </a:solidFill>
                <a:latin typeface="Arial" pitchFamily="34" charset="0"/>
                <a:ea typeface="Arial" pitchFamily="34" charset="-122"/>
                <a:cs typeface="Arial" pitchFamily="34" charset="-120"/>
              </a:rPr>
              <a:t>4 SEPT.</a:t>
            </a:r>
            <a:endParaRPr lang="en-US" sz="1050" dirty="0"/>
          </a:p>
        </p:txBody>
      </p:sp>
      <p:sp>
        <p:nvSpPr>
          <p:cNvPr id="12" name="Text 9"/>
          <p:cNvSpPr txBox="1"/>
          <p:nvPr/>
        </p:nvSpPr>
        <p:spPr>
          <a:xfrm>
            <a:off x="2889504" y="2596896"/>
            <a:ext cx="1975104" cy="960120"/>
          </a:xfrm>
          <a:prstGeom prst="rect">
            <a:avLst/>
          </a:prstGeom>
          <a:noFill/>
          <a:ln/>
        </p:spPr>
        <p:txBody>
          <a:bodyPr wrap="square" lIns="0" tIns="0" rIns="0" bIns="0" rtlCol="0" anchor="ctr"/>
          <a:lstStyle/>
          <a:p>
            <a:pPr indent="0" marL="0">
              <a:lnSpc>
                <a:spcPct val="106000"/>
              </a:lnSpc>
              <a:buNone/>
            </a:pPr>
            <a:r>
              <a:rPr lang="en-US" sz="1000" dirty="0">
                <a:solidFill>
                  <a:srgbClr val="31363B"/>
                </a:solidFill>
                <a:latin typeface="Cambria" pitchFamily="34" charset="0"/>
                <a:ea typeface="Cambria" pitchFamily="34" charset="-122"/>
                <a:cs typeface="Cambria" pitchFamily="34" charset="-120"/>
              </a:rPr>
              <a:t>Elizabeth Eckford, 15 ans, n'a pas reçu le message : sa famille n'a pas le téléphone. Elle arrive seule, face à la foule.</a:t>
            </a:r>
            <a:endParaRPr lang="en-US" sz="1000" dirty="0"/>
          </a:p>
        </p:txBody>
      </p:sp>
      <p:sp>
        <p:nvSpPr>
          <p:cNvPr id="13" name="Shape 10"/>
          <p:cNvSpPr/>
          <p:nvPr/>
        </p:nvSpPr>
        <p:spPr>
          <a:xfrm>
            <a:off x="5102352" y="2162556"/>
            <a:ext cx="100584" cy="100584"/>
          </a:xfrm>
          <a:prstGeom prst="ellipse">
            <a:avLst/>
          </a:prstGeom>
          <a:solidFill>
            <a:srgbClr val="F1F2F3"/>
          </a:solidFill>
          <a:ln w="9525">
            <a:solidFill>
              <a:srgbClr val="787F86"/>
            </a:solidFill>
            <a:prstDash val="solid"/>
          </a:ln>
        </p:spPr>
      </p:sp>
      <p:sp>
        <p:nvSpPr>
          <p:cNvPr id="14" name="Text 11"/>
          <p:cNvSpPr txBox="1"/>
          <p:nvPr/>
        </p:nvSpPr>
        <p:spPr>
          <a:xfrm>
            <a:off x="5093208" y="2359152"/>
            <a:ext cx="1975104" cy="219456"/>
          </a:xfrm>
          <a:prstGeom prst="rect">
            <a:avLst/>
          </a:prstGeom>
          <a:noFill/>
          <a:ln/>
        </p:spPr>
        <p:txBody>
          <a:bodyPr wrap="square" lIns="0" tIns="0" rIns="0" bIns="0" rtlCol="0" anchor="ctr"/>
          <a:lstStyle/>
          <a:p>
            <a:pPr indent="0" marL="0">
              <a:buNone/>
            </a:pPr>
            <a:r>
              <a:rPr lang="en-US" sz="1050" b="1" spc="140" kern="0" dirty="0">
                <a:solidFill>
                  <a:srgbClr val="8F2F24"/>
                </a:solidFill>
                <a:latin typeface="Arial" pitchFamily="34" charset="0"/>
                <a:ea typeface="Arial" pitchFamily="34" charset="-122"/>
                <a:cs typeface="Arial" pitchFamily="34" charset="-120"/>
              </a:rPr>
              <a:t>23 SEPT.</a:t>
            </a:r>
            <a:endParaRPr lang="en-US" sz="1050" dirty="0"/>
          </a:p>
        </p:txBody>
      </p:sp>
      <p:sp>
        <p:nvSpPr>
          <p:cNvPr id="15" name="Text 12"/>
          <p:cNvSpPr txBox="1"/>
          <p:nvPr/>
        </p:nvSpPr>
        <p:spPr>
          <a:xfrm>
            <a:off x="5093208" y="2596896"/>
            <a:ext cx="1975104" cy="960120"/>
          </a:xfrm>
          <a:prstGeom prst="rect">
            <a:avLst/>
          </a:prstGeom>
          <a:noFill/>
          <a:ln/>
        </p:spPr>
        <p:txBody>
          <a:bodyPr wrap="square" lIns="0" tIns="0" rIns="0" bIns="0" rtlCol="0" anchor="ctr"/>
          <a:lstStyle/>
          <a:p>
            <a:pPr indent="0" marL="0">
              <a:lnSpc>
                <a:spcPct val="106000"/>
              </a:lnSpc>
              <a:buNone/>
            </a:pPr>
            <a:r>
              <a:rPr lang="en-US" sz="1000" dirty="0">
                <a:solidFill>
                  <a:srgbClr val="31363B"/>
                </a:solidFill>
                <a:latin typeface="Cambria" pitchFamily="34" charset="0"/>
                <a:ea typeface="Cambria" pitchFamily="34" charset="-122"/>
                <a:cs typeface="Cambria" pitchFamily="34" charset="-120"/>
              </a:rPr>
              <a:t>Les neuf entrent par une porte latérale. Plus de mille personnes se massent dehors ; la police les fait ressortir.</a:t>
            </a:r>
            <a:endParaRPr lang="en-US" sz="1000" dirty="0"/>
          </a:p>
        </p:txBody>
      </p:sp>
      <p:sp>
        <p:nvSpPr>
          <p:cNvPr id="16" name="Shape 13"/>
          <p:cNvSpPr/>
          <p:nvPr/>
        </p:nvSpPr>
        <p:spPr>
          <a:xfrm>
            <a:off x="7306056" y="2162556"/>
            <a:ext cx="100584" cy="100584"/>
          </a:xfrm>
          <a:prstGeom prst="ellipse">
            <a:avLst/>
          </a:prstGeom>
          <a:solidFill>
            <a:srgbClr val="F1F2F3"/>
          </a:solidFill>
          <a:ln w="9525">
            <a:solidFill>
              <a:srgbClr val="787F86"/>
            </a:solidFill>
            <a:prstDash val="solid"/>
          </a:ln>
        </p:spPr>
      </p:sp>
      <p:sp>
        <p:nvSpPr>
          <p:cNvPr id="17" name="Text 14"/>
          <p:cNvSpPr txBox="1"/>
          <p:nvPr/>
        </p:nvSpPr>
        <p:spPr>
          <a:xfrm>
            <a:off x="7296912" y="2359152"/>
            <a:ext cx="1975104" cy="219456"/>
          </a:xfrm>
          <a:prstGeom prst="rect">
            <a:avLst/>
          </a:prstGeom>
          <a:noFill/>
          <a:ln/>
        </p:spPr>
        <p:txBody>
          <a:bodyPr wrap="square" lIns="0" tIns="0" rIns="0" bIns="0" rtlCol="0" anchor="ctr"/>
          <a:lstStyle/>
          <a:p>
            <a:pPr indent="0" marL="0">
              <a:buNone/>
            </a:pPr>
            <a:r>
              <a:rPr lang="en-US" sz="1050" b="1" spc="140" kern="0" dirty="0">
                <a:solidFill>
                  <a:srgbClr val="8F2F24"/>
                </a:solidFill>
                <a:latin typeface="Arial" pitchFamily="34" charset="0"/>
                <a:ea typeface="Arial" pitchFamily="34" charset="-122"/>
                <a:cs typeface="Arial" pitchFamily="34" charset="-120"/>
              </a:rPr>
              <a:t>24 SEPT.</a:t>
            </a:r>
            <a:endParaRPr lang="en-US" sz="1050" dirty="0"/>
          </a:p>
        </p:txBody>
      </p:sp>
      <p:sp>
        <p:nvSpPr>
          <p:cNvPr id="18" name="Text 15"/>
          <p:cNvSpPr txBox="1"/>
          <p:nvPr/>
        </p:nvSpPr>
        <p:spPr>
          <a:xfrm>
            <a:off x="7296912" y="2596896"/>
            <a:ext cx="1975104" cy="960120"/>
          </a:xfrm>
          <a:prstGeom prst="rect">
            <a:avLst/>
          </a:prstGeom>
          <a:noFill/>
          <a:ln/>
        </p:spPr>
        <p:txBody>
          <a:bodyPr wrap="square" lIns="0" tIns="0" rIns="0" bIns="0" rtlCol="0" anchor="ctr"/>
          <a:lstStyle/>
          <a:p>
            <a:pPr indent="0" marL="0">
              <a:lnSpc>
                <a:spcPct val="106000"/>
              </a:lnSpc>
              <a:buNone/>
            </a:pPr>
            <a:r>
              <a:rPr lang="en-US" sz="1000" dirty="0">
                <a:solidFill>
                  <a:srgbClr val="31363B"/>
                </a:solidFill>
                <a:latin typeface="Cambria" pitchFamily="34" charset="0"/>
                <a:ea typeface="Cambria" pitchFamily="34" charset="-122"/>
                <a:cs typeface="Cambria" pitchFamily="34" charset="-120"/>
              </a:rPr>
              <a:t>Eisenhower fédéralise la Garde et envoie la 101e Division aéroportée.</a:t>
            </a:r>
            <a:endParaRPr lang="en-US" sz="1000" dirty="0"/>
          </a:p>
        </p:txBody>
      </p:sp>
      <p:sp>
        <p:nvSpPr>
          <p:cNvPr id="19" name="Shape 16"/>
          <p:cNvSpPr/>
          <p:nvPr/>
        </p:nvSpPr>
        <p:spPr>
          <a:xfrm>
            <a:off x="9509760" y="2162556"/>
            <a:ext cx="100584" cy="100584"/>
          </a:xfrm>
          <a:prstGeom prst="ellipse">
            <a:avLst/>
          </a:prstGeom>
          <a:solidFill>
            <a:srgbClr val="8F2F24"/>
          </a:solidFill>
          <a:ln w="9525">
            <a:solidFill>
              <a:srgbClr val="8F2F24"/>
            </a:solidFill>
            <a:prstDash val="solid"/>
          </a:ln>
        </p:spPr>
      </p:sp>
      <p:sp>
        <p:nvSpPr>
          <p:cNvPr id="20" name="Text 17"/>
          <p:cNvSpPr txBox="1"/>
          <p:nvPr/>
        </p:nvSpPr>
        <p:spPr>
          <a:xfrm>
            <a:off x="9500616" y="2359152"/>
            <a:ext cx="1975104" cy="219456"/>
          </a:xfrm>
          <a:prstGeom prst="rect">
            <a:avLst/>
          </a:prstGeom>
          <a:noFill/>
          <a:ln/>
        </p:spPr>
        <p:txBody>
          <a:bodyPr wrap="square" lIns="0" tIns="0" rIns="0" bIns="0" rtlCol="0" anchor="ctr"/>
          <a:lstStyle/>
          <a:p>
            <a:pPr indent="0" marL="0">
              <a:buNone/>
            </a:pPr>
            <a:r>
              <a:rPr lang="en-US" sz="1050" b="1" spc="140" kern="0" dirty="0">
                <a:solidFill>
                  <a:srgbClr val="8F2F24"/>
                </a:solidFill>
                <a:latin typeface="Arial" pitchFamily="34" charset="0"/>
                <a:ea typeface="Arial" pitchFamily="34" charset="-122"/>
                <a:cs typeface="Arial" pitchFamily="34" charset="-120"/>
              </a:rPr>
              <a:t>25 SEPT.</a:t>
            </a:r>
            <a:endParaRPr lang="en-US" sz="1050" dirty="0"/>
          </a:p>
        </p:txBody>
      </p:sp>
      <p:sp>
        <p:nvSpPr>
          <p:cNvPr id="21" name="Text 18"/>
          <p:cNvSpPr txBox="1"/>
          <p:nvPr/>
        </p:nvSpPr>
        <p:spPr>
          <a:xfrm>
            <a:off x="9500616" y="2596896"/>
            <a:ext cx="1975104" cy="960120"/>
          </a:xfrm>
          <a:prstGeom prst="rect">
            <a:avLst/>
          </a:prstGeom>
          <a:noFill/>
          <a:ln/>
        </p:spPr>
        <p:txBody>
          <a:bodyPr wrap="square" lIns="0" tIns="0" rIns="0" bIns="0" rtlCol="0" anchor="ctr"/>
          <a:lstStyle/>
          <a:p>
            <a:pPr indent="0" marL="0">
              <a:lnSpc>
                <a:spcPct val="106000"/>
              </a:lnSpc>
              <a:buNone/>
            </a:pPr>
            <a:r>
              <a:rPr lang="en-US" sz="1000" dirty="0">
                <a:solidFill>
                  <a:srgbClr val="31363B"/>
                </a:solidFill>
                <a:latin typeface="Cambria" pitchFamily="34" charset="0"/>
                <a:ea typeface="Cambria" pitchFamily="34" charset="-122"/>
                <a:cs typeface="Cambria" pitchFamily="34" charset="-120"/>
              </a:rPr>
              <a:t>Escortés par les parachutistes, les neuf entrent en cours. Première journée complète.</a:t>
            </a:r>
            <a:endParaRPr lang="en-US" sz="1000" dirty="0"/>
          </a:p>
        </p:txBody>
      </p:sp>
      <p:pic>
        <p:nvPicPr>
          <p:cNvPr id="22" name="Image 1" descr="/home/user/Kiffclub-/little-rock-nine/images/eckford.jpg">    </p:cNvPr>
          <p:cNvPicPr>
            <a:picLocks noChangeAspect="1"/>
          </p:cNvPicPr>
          <p:nvPr/>
        </p:nvPicPr>
        <p:blipFill>
          <a:blip r:embed="rId2"/>
          <a:srcRect l="0" r="0" t="0" b="0"/>
          <a:stretch/>
        </p:blipFill>
        <p:spPr>
          <a:xfrm>
            <a:off x="685800" y="3794760"/>
            <a:ext cx="3200400" cy="2331720"/>
          </a:xfrm>
          <a:prstGeom prst="rect">
            <a:avLst/>
          </a:prstGeom>
        </p:spPr>
      </p:pic>
      <p:sp>
        <p:nvSpPr>
          <p:cNvPr id="23" name="Text 19"/>
          <p:cNvSpPr txBox="1"/>
          <p:nvPr/>
        </p:nvSpPr>
        <p:spPr>
          <a:xfrm>
            <a:off x="685800" y="6199632"/>
            <a:ext cx="3200400" cy="274320"/>
          </a:xfrm>
          <a:prstGeom prst="rect">
            <a:avLst/>
          </a:prstGeom>
          <a:noFill/>
          <a:ln/>
        </p:spPr>
        <p:txBody>
          <a:bodyPr wrap="square" lIns="0" tIns="0" rIns="0" bIns="0" rtlCol="0" anchor="ctr"/>
          <a:lstStyle/>
          <a:p>
            <a:pPr indent="0" marL="0">
              <a:buNone/>
            </a:pPr>
            <a:r>
              <a:rPr lang="en-US" sz="750" dirty="0">
                <a:solidFill>
                  <a:srgbClr val="787F86"/>
                </a:solidFill>
                <a:latin typeface="Arial" pitchFamily="34" charset="0"/>
                <a:ea typeface="Arial" pitchFamily="34" charset="-122"/>
                <a:cs typeface="Arial" pitchFamily="34" charset="-120"/>
              </a:rPr>
              <a:t>Elizabeth Eckford, 4 sept. 1957 — Will Counts / AP, domaine public</a:t>
            </a:r>
            <a:endParaRPr lang="en-US" sz="750" dirty="0"/>
          </a:p>
        </p:txBody>
      </p:sp>
      <p:pic>
        <p:nvPicPr>
          <p:cNvPr id="24" name="Image 2" descr="/home/user/Kiffclub-/little-rock-nine/images/airborne.jpg">    </p:cNvPr>
          <p:cNvPicPr>
            <a:picLocks noChangeAspect="1"/>
          </p:cNvPicPr>
          <p:nvPr/>
        </p:nvPicPr>
        <p:blipFill>
          <a:blip r:embed="rId3"/>
          <a:srcRect l="0" r="0" t="0" b="0"/>
          <a:stretch/>
        </p:blipFill>
        <p:spPr>
          <a:xfrm>
            <a:off x="4069080" y="3794760"/>
            <a:ext cx="3200400" cy="2331720"/>
          </a:xfrm>
          <a:prstGeom prst="rect">
            <a:avLst/>
          </a:prstGeom>
        </p:spPr>
      </p:pic>
      <p:sp>
        <p:nvSpPr>
          <p:cNvPr id="25" name="Text 20"/>
          <p:cNvSpPr txBox="1"/>
          <p:nvPr/>
        </p:nvSpPr>
        <p:spPr>
          <a:xfrm>
            <a:off x="4069080" y="6199632"/>
            <a:ext cx="3200400" cy="274320"/>
          </a:xfrm>
          <a:prstGeom prst="rect">
            <a:avLst/>
          </a:prstGeom>
          <a:noFill/>
          <a:ln/>
        </p:spPr>
        <p:txBody>
          <a:bodyPr wrap="square" lIns="0" tIns="0" rIns="0" bIns="0" rtlCol="0" anchor="ctr"/>
          <a:lstStyle/>
          <a:p>
            <a:pPr indent="0" marL="0">
              <a:buNone/>
            </a:pPr>
            <a:r>
              <a:rPr lang="en-US" sz="750" dirty="0">
                <a:solidFill>
                  <a:srgbClr val="787F86"/>
                </a:solidFill>
                <a:latin typeface="Arial" pitchFamily="34" charset="0"/>
                <a:ea typeface="Arial" pitchFamily="34" charset="-122"/>
                <a:cs typeface="Arial" pitchFamily="34" charset="-120"/>
              </a:rPr>
              <a:t>La 101e aéroportée escorte les élèves — U.S. Army, domaine public</a:t>
            </a:r>
            <a:endParaRPr lang="en-US" sz="750" dirty="0"/>
          </a:p>
        </p:txBody>
      </p:sp>
      <p:pic>
        <p:nvPicPr>
          <p:cNvPr id="26" name="Image 3" descr="/home/user/Kiffclub-/little-rock-nine/images/eisenhower.jpg">    </p:cNvPr>
          <p:cNvPicPr>
            <a:picLocks noChangeAspect="1"/>
          </p:cNvPicPr>
          <p:nvPr/>
        </p:nvPicPr>
        <p:blipFill>
          <a:blip r:embed="rId4"/>
          <a:srcRect l="0" r="0" t="0" b="0"/>
          <a:stretch/>
        </p:blipFill>
        <p:spPr>
          <a:xfrm>
            <a:off x="7635240" y="3794760"/>
            <a:ext cx="914400" cy="914400"/>
          </a:xfrm>
          <a:prstGeom prst="ellipse">
            <a:avLst/>
          </a:prstGeom>
        </p:spPr>
      </p:pic>
      <p:sp>
        <p:nvSpPr>
          <p:cNvPr id="27" name="Text 21"/>
          <p:cNvSpPr txBox="1"/>
          <p:nvPr/>
        </p:nvSpPr>
        <p:spPr>
          <a:xfrm>
            <a:off x="7635240" y="4846320"/>
            <a:ext cx="3886200" cy="914400"/>
          </a:xfrm>
          <a:prstGeom prst="rect">
            <a:avLst/>
          </a:prstGeom>
          <a:noFill/>
          <a:ln/>
        </p:spPr>
        <p:txBody>
          <a:bodyPr wrap="square" lIns="0" tIns="0" rIns="0" bIns="0" rtlCol="0" anchor="ctr"/>
          <a:lstStyle/>
          <a:p>
            <a:pPr indent="0" marL="0">
              <a:lnSpc>
                <a:spcPct val="108000"/>
              </a:lnSpc>
              <a:buNone/>
            </a:pPr>
            <a:r>
              <a:rPr lang="en-US" sz="1500" i="1" dirty="0">
                <a:solidFill>
                  <a:srgbClr val="141618"/>
                </a:solidFill>
                <a:latin typeface="Cambria" pitchFamily="34" charset="0"/>
                <a:ea typeface="Cambria" pitchFamily="34" charset="-122"/>
                <a:cs typeface="Cambria" pitchFamily="34" charset="-120"/>
              </a:rPr>
              <a:t>« La loi de la foule ne peut pas l'emporter sur les décisions des tribunaux. »</a:t>
            </a:r>
            <a:endParaRPr lang="en-US" sz="1500" dirty="0"/>
          </a:p>
        </p:txBody>
      </p:sp>
      <p:sp>
        <p:nvSpPr>
          <p:cNvPr id="28" name="Text 22"/>
          <p:cNvSpPr txBox="1"/>
          <p:nvPr/>
        </p:nvSpPr>
        <p:spPr>
          <a:xfrm>
            <a:off x="7635240" y="5788152"/>
            <a:ext cx="3886200" cy="640080"/>
          </a:xfrm>
          <a:prstGeom prst="rect">
            <a:avLst/>
          </a:prstGeom>
          <a:noFill/>
          <a:ln/>
        </p:spPr>
        <p:txBody>
          <a:bodyPr wrap="square" lIns="0" tIns="0" rIns="0" bIns="0" rtlCol="0" anchor="ctr"/>
          <a:lstStyle/>
          <a:p>
            <a:pPr indent="0" marL="0">
              <a:lnSpc>
                <a:spcPct val="110000"/>
              </a:lnSpc>
              <a:buNone/>
            </a:pPr>
            <a:r>
              <a:rPr lang="en-US" sz="850" b="1" spc="100" kern="0" dirty="0">
                <a:solidFill>
                  <a:srgbClr val="787F86"/>
                </a:solidFill>
                <a:latin typeface="Arial" pitchFamily="34" charset="0"/>
                <a:ea typeface="Arial" pitchFamily="34" charset="-122"/>
                <a:cs typeface="Arial" pitchFamily="34" charset="-120"/>
              </a:rPr>
              <a:t>DWIGHT D. EISENHOWER — 24 SEPTEMBRE 1957</a:t>
            </a:r>
            <a:endParaRPr lang="en-US" sz="850" dirty="0"/>
          </a:p>
          <a:p>
            <a:pPr indent="0" marL="0">
              <a:lnSpc>
                <a:spcPct val="110000"/>
              </a:lnSpc>
              <a:buNone/>
            </a:pPr>
            <a:r>
              <a:rPr lang="en-US" sz="850" dirty="0">
                <a:solidFill>
                  <a:srgbClr val="787F86"/>
                </a:solidFill>
                <a:latin typeface="Cambria" pitchFamily="34" charset="0"/>
                <a:ea typeface="Cambria" pitchFamily="34" charset="-122"/>
                <a:cs typeface="Cambria" pitchFamily="34" charset="-120"/>
              </a:rPr>
              <a:t>« Mob rule cannot be allowed to override the decisions of our courts. »</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2F3"/>
        </a:solidFill>
      </p:bgPr>
    </p:bg>
    <p:spTree>
      <p:nvGrpSpPr>
        <p:cNvPr id="1" name=""/>
        <p:cNvGrpSpPr/>
        <p:nvPr/>
      </p:nvGrpSpPr>
      <p:grpSpPr>
        <a:xfrm>
          <a:off x="0" y="0"/>
          <a:ext cx="0" cy="0"/>
          <a:chOff x="0" y="0"/>
          <a:chExt cx="0" cy="0"/>
        </a:xfrm>
      </p:grpSpPr>
      <p:sp>
        <p:nvSpPr>
          <p:cNvPr id="2" name="Text 0"/>
          <p:cNvSpPr txBox="1"/>
          <p:nvPr/>
        </p:nvSpPr>
        <p:spPr>
          <a:xfrm>
            <a:off x="685800" y="502920"/>
            <a:ext cx="7315200" cy="256032"/>
          </a:xfrm>
          <a:prstGeom prst="rect">
            <a:avLst/>
          </a:prstGeom>
          <a:noFill/>
          <a:ln/>
        </p:spPr>
        <p:txBody>
          <a:bodyPr wrap="square" lIns="0" tIns="0" rIns="0" bIns="0" rtlCol="0" anchor="ctr"/>
          <a:lstStyle/>
          <a:p>
            <a:pPr indent="0" marL="0">
              <a:buNone/>
            </a:pPr>
            <a:r>
              <a:rPr lang="en-US" sz="1000" b="1" spc="240" kern="0" dirty="0">
                <a:solidFill>
                  <a:srgbClr val="8F2F24"/>
                </a:solidFill>
                <a:latin typeface="Arial" pitchFamily="34" charset="0"/>
                <a:ea typeface="Arial" pitchFamily="34" charset="-122"/>
                <a:cs typeface="Arial" pitchFamily="34" charset="-120"/>
              </a:rPr>
              <a:t>ANNÉE SCOLAIRE 1957-1958</a:t>
            </a:r>
            <a:endParaRPr lang="en-US" sz="1000" dirty="0"/>
          </a:p>
        </p:txBody>
      </p:sp>
      <p:sp>
        <p:nvSpPr>
          <p:cNvPr id="3" name="Text 1"/>
          <p:cNvSpPr txBox="1"/>
          <p:nvPr/>
        </p:nvSpPr>
        <p:spPr>
          <a:xfrm>
            <a:off x="685800" y="822960"/>
            <a:ext cx="7498080" cy="1051560"/>
          </a:xfrm>
          <a:prstGeom prst="rect">
            <a:avLst/>
          </a:prstGeom>
          <a:noFill/>
          <a:ln/>
        </p:spPr>
        <p:txBody>
          <a:bodyPr wrap="square" lIns="0" tIns="0" rIns="0" bIns="0" rtlCol="0" anchor="ctr"/>
          <a:lstStyle/>
          <a:p>
            <a:pPr indent="0" marL="0">
              <a:lnSpc>
                <a:spcPct val="92000"/>
              </a:lnSpc>
              <a:buNone/>
            </a:pPr>
            <a:r>
              <a:rPr lang="en-US" sz="3400" b="1" spc="-30" kern="0" dirty="0">
                <a:solidFill>
                  <a:srgbClr val="141618"/>
                </a:solidFill>
                <a:latin typeface="Arial" pitchFamily="34" charset="0"/>
                <a:ea typeface="Arial" pitchFamily="34" charset="-122"/>
                <a:cs typeface="Arial" pitchFamily="34" charset="-120"/>
              </a:rPr>
              <a:t>ENTRER ÉTAIT LE PLUS FACILE</a:t>
            </a:r>
            <a:endParaRPr lang="en-US" sz="3400" dirty="0"/>
          </a:p>
        </p:txBody>
      </p:sp>
      <p:sp>
        <p:nvSpPr>
          <p:cNvPr id="4" name="Shape 2"/>
          <p:cNvSpPr/>
          <p:nvPr/>
        </p:nvSpPr>
        <p:spPr>
          <a:xfrm>
            <a:off x="685800" y="1965960"/>
            <a:ext cx="2194560" cy="868680"/>
          </a:xfrm>
          <a:prstGeom prst="rect">
            <a:avLst/>
          </a:prstGeom>
          <a:solidFill>
            <a:srgbClr val="FFFFFF"/>
          </a:solidFill>
          <a:ln w="9525">
            <a:solidFill>
              <a:srgbClr val="E5E7E9"/>
            </a:solidFill>
            <a:prstDash val="solid"/>
          </a:ln>
        </p:spPr>
      </p:sp>
      <p:sp>
        <p:nvSpPr>
          <p:cNvPr id="5" name="Text 3"/>
          <p:cNvSpPr txBox="1"/>
          <p:nvPr/>
        </p:nvSpPr>
        <p:spPr>
          <a:xfrm>
            <a:off x="832104" y="2048256"/>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01</a:t>
            </a:r>
            <a:endParaRPr lang="en-US" sz="800" dirty="0"/>
          </a:p>
        </p:txBody>
      </p:sp>
      <p:sp>
        <p:nvSpPr>
          <p:cNvPr id="6" name="Text 4"/>
          <p:cNvSpPr txBox="1"/>
          <p:nvPr/>
        </p:nvSpPr>
        <p:spPr>
          <a:xfrm>
            <a:off x="832104" y="2221992"/>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ERNEST GREEN</a:t>
            </a:r>
            <a:endParaRPr lang="en-US" sz="1050" dirty="0"/>
          </a:p>
        </p:txBody>
      </p:sp>
      <p:sp>
        <p:nvSpPr>
          <p:cNvPr id="7" name="Text 5"/>
          <p:cNvSpPr txBox="1"/>
          <p:nvPr/>
        </p:nvSpPr>
        <p:spPr>
          <a:xfrm>
            <a:off x="832104" y="2459736"/>
            <a:ext cx="1920240" cy="329184"/>
          </a:xfrm>
          <a:prstGeom prst="rect">
            <a:avLst/>
          </a:prstGeom>
          <a:noFill/>
          <a:ln/>
        </p:spPr>
        <p:txBody>
          <a:bodyPr wrap="square" lIns="0" tIns="0" rIns="0" bIns="0" rtlCol="0" anchor="ctr"/>
          <a:lstStyle/>
          <a:p>
            <a:pPr indent="0" marL="0">
              <a:lnSpc>
                <a:spcPct val="102000"/>
              </a:lnSpc>
              <a:buNone/>
            </a:pPr>
            <a:r>
              <a:rPr lang="en-US" sz="850" dirty="0">
                <a:solidFill>
                  <a:srgbClr val="8F2F24"/>
                </a:solidFill>
                <a:latin typeface="Cambria" pitchFamily="34" charset="0"/>
                <a:ea typeface="Cambria" pitchFamily="34" charset="-122"/>
                <a:cs typeface="Cambria" pitchFamily="34" charset="-120"/>
              </a:rPr>
              <a:t>Premier diplômé noir de Central High, mai 1958</a:t>
            </a:r>
            <a:endParaRPr lang="en-US" sz="850" dirty="0"/>
          </a:p>
        </p:txBody>
      </p:sp>
      <p:sp>
        <p:nvSpPr>
          <p:cNvPr id="8" name="Shape 6"/>
          <p:cNvSpPr/>
          <p:nvPr/>
        </p:nvSpPr>
        <p:spPr>
          <a:xfrm>
            <a:off x="3017520" y="1965960"/>
            <a:ext cx="2194560" cy="868680"/>
          </a:xfrm>
          <a:prstGeom prst="rect">
            <a:avLst/>
          </a:prstGeom>
          <a:solidFill>
            <a:srgbClr val="FFFFFF"/>
          </a:solidFill>
          <a:ln w="9525">
            <a:solidFill>
              <a:srgbClr val="E5E7E9"/>
            </a:solidFill>
            <a:prstDash val="solid"/>
          </a:ln>
        </p:spPr>
      </p:sp>
      <p:sp>
        <p:nvSpPr>
          <p:cNvPr id="9" name="Text 7"/>
          <p:cNvSpPr txBox="1"/>
          <p:nvPr/>
        </p:nvSpPr>
        <p:spPr>
          <a:xfrm>
            <a:off x="3163824" y="2048256"/>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02</a:t>
            </a:r>
            <a:endParaRPr lang="en-US" sz="800" dirty="0"/>
          </a:p>
        </p:txBody>
      </p:sp>
      <p:sp>
        <p:nvSpPr>
          <p:cNvPr id="10" name="Text 8"/>
          <p:cNvSpPr txBox="1"/>
          <p:nvPr/>
        </p:nvSpPr>
        <p:spPr>
          <a:xfrm>
            <a:off x="3163824" y="2221992"/>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ELIZABETH ECKFORD</a:t>
            </a:r>
            <a:endParaRPr lang="en-US" sz="1050" dirty="0"/>
          </a:p>
        </p:txBody>
      </p:sp>
      <p:sp>
        <p:nvSpPr>
          <p:cNvPr id="11" name="Text 9"/>
          <p:cNvSpPr txBox="1"/>
          <p:nvPr/>
        </p:nvSpPr>
        <p:spPr>
          <a:xfrm>
            <a:off x="3163824" y="2459736"/>
            <a:ext cx="1920240" cy="329184"/>
          </a:xfrm>
          <a:prstGeom prst="rect">
            <a:avLst/>
          </a:prstGeom>
          <a:noFill/>
          <a:ln/>
        </p:spPr>
        <p:txBody>
          <a:bodyPr wrap="square" lIns="0" tIns="0" rIns="0" bIns="0" rtlCol="0" anchor="ctr"/>
          <a:lstStyle/>
          <a:p>
            <a:pPr indent="0" marL="0">
              <a:lnSpc>
                <a:spcPct val="102000"/>
              </a:lnSpc>
              <a:buNone/>
            </a:pPr>
            <a:r>
              <a:rPr lang="en-US" sz="850" dirty="0">
                <a:solidFill>
                  <a:srgbClr val="8F2F24"/>
                </a:solidFill>
                <a:latin typeface="Cambria" pitchFamily="34" charset="0"/>
                <a:ea typeface="Cambria" pitchFamily="34" charset="-122"/>
                <a:cs typeface="Cambria" pitchFamily="34" charset="-120"/>
              </a:rPr>
              <a:t>Seule face à la foule, 4 septembre</a:t>
            </a:r>
            <a:endParaRPr lang="en-US" sz="850" dirty="0"/>
          </a:p>
        </p:txBody>
      </p:sp>
      <p:sp>
        <p:nvSpPr>
          <p:cNvPr id="12" name="Shape 10"/>
          <p:cNvSpPr/>
          <p:nvPr/>
        </p:nvSpPr>
        <p:spPr>
          <a:xfrm>
            <a:off x="5349240" y="1965960"/>
            <a:ext cx="2194560" cy="868680"/>
          </a:xfrm>
          <a:prstGeom prst="rect">
            <a:avLst/>
          </a:prstGeom>
          <a:solidFill>
            <a:srgbClr val="FFFFFF"/>
          </a:solidFill>
          <a:ln w="9525">
            <a:solidFill>
              <a:srgbClr val="E5E7E9"/>
            </a:solidFill>
            <a:prstDash val="solid"/>
          </a:ln>
        </p:spPr>
      </p:sp>
      <p:sp>
        <p:nvSpPr>
          <p:cNvPr id="13" name="Text 11"/>
          <p:cNvSpPr txBox="1"/>
          <p:nvPr/>
        </p:nvSpPr>
        <p:spPr>
          <a:xfrm>
            <a:off x="5495544" y="2048256"/>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03</a:t>
            </a:r>
            <a:endParaRPr lang="en-US" sz="800" dirty="0"/>
          </a:p>
        </p:txBody>
      </p:sp>
      <p:sp>
        <p:nvSpPr>
          <p:cNvPr id="14" name="Text 12"/>
          <p:cNvSpPr txBox="1"/>
          <p:nvPr/>
        </p:nvSpPr>
        <p:spPr>
          <a:xfrm>
            <a:off x="5495544" y="2221992"/>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JEFFERSON THOMAS</a:t>
            </a:r>
            <a:endParaRPr lang="en-US" sz="1050" dirty="0"/>
          </a:p>
        </p:txBody>
      </p:sp>
      <p:sp>
        <p:nvSpPr>
          <p:cNvPr id="15" name="Shape 13"/>
          <p:cNvSpPr/>
          <p:nvPr/>
        </p:nvSpPr>
        <p:spPr>
          <a:xfrm>
            <a:off x="685800" y="2962656"/>
            <a:ext cx="2194560" cy="868680"/>
          </a:xfrm>
          <a:prstGeom prst="rect">
            <a:avLst/>
          </a:prstGeom>
          <a:solidFill>
            <a:srgbClr val="FFFFFF"/>
          </a:solidFill>
          <a:ln w="9525">
            <a:solidFill>
              <a:srgbClr val="E5E7E9"/>
            </a:solidFill>
            <a:prstDash val="solid"/>
          </a:ln>
        </p:spPr>
      </p:sp>
      <p:sp>
        <p:nvSpPr>
          <p:cNvPr id="16" name="Text 14"/>
          <p:cNvSpPr txBox="1"/>
          <p:nvPr/>
        </p:nvSpPr>
        <p:spPr>
          <a:xfrm>
            <a:off x="832104" y="3044952"/>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04</a:t>
            </a:r>
            <a:endParaRPr lang="en-US" sz="800" dirty="0"/>
          </a:p>
        </p:txBody>
      </p:sp>
      <p:sp>
        <p:nvSpPr>
          <p:cNvPr id="17" name="Text 15"/>
          <p:cNvSpPr txBox="1"/>
          <p:nvPr/>
        </p:nvSpPr>
        <p:spPr>
          <a:xfrm>
            <a:off x="832104" y="3218688"/>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TERRENCE ROBERTS</a:t>
            </a:r>
            <a:endParaRPr lang="en-US" sz="1050" dirty="0"/>
          </a:p>
        </p:txBody>
      </p:sp>
      <p:sp>
        <p:nvSpPr>
          <p:cNvPr id="18" name="Shape 16"/>
          <p:cNvSpPr/>
          <p:nvPr/>
        </p:nvSpPr>
        <p:spPr>
          <a:xfrm>
            <a:off x="3017520" y="2962656"/>
            <a:ext cx="2194560" cy="868680"/>
          </a:xfrm>
          <a:prstGeom prst="rect">
            <a:avLst/>
          </a:prstGeom>
          <a:solidFill>
            <a:srgbClr val="FFFFFF"/>
          </a:solidFill>
          <a:ln w="9525">
            <a:solidFill>
              <a:srgbClr val="E5E7E9"/>
            </a:solidFill>
            <a:prstDash val="solid"/>
          </a:ln>
        </p:spPr>
      </p:sp>
      <p:sp>
        <p:nvSpPr>
          <p:cNvPr id="19" name="Text 17"/>
          <p:cNvSpPr txBox="1"/>
          <p:nvPr/>
        </p:nvSpPr>
        <p:spPr>
          <a:xfrm>
            <a:off x="3163824" y="3044952"/>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05</a:t>
            </a:r>
            <a:endParaRPr lang="en-US" sz="800" dirty="0"/>
          </a:p>
        </p:txBody>
      </p:sp>
      <p:sp>
        <p:nvSpPr>
          <p:cNvPr id="20" name="Text 18"/>
          <p:cNvSpPr txBox="1"/>
          <p:nvPr/>
        </p:nvSpPr>
        <p:spPr>
          <a:xfrm>
            <a:off x="3163824" y="3218688"/>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CARLOTTA WALLS</a:t>
            </a:r>
            <a:endParaRPr lang="en-US" sz="1050" dirty="0"/>
          </a:p>
        </p:txBody>
      </p:sp>
      <p:sp>
        <p:nvSpPr>
          <p:cNvPr id="21" name="Text 19"/>
          <p:cNvSpPr txBox="1"/>
          <p:nvPr/>
        </p:nvSpPr>
        <p:spPr>
          <a:xfrm>
            <a:off x="3163824" y="3456432"/>
            <a:ext cx="1920240" cy="329184"/>
          </a:xfrm>
          <a:prstGeom prst="rect">
            <a:avLst/>
          </a:prstGeom>
          <a:noFill/>
          <a:ln/>
        </p:spPr>
        <p:txBody>
          <a:bodyPr wrap="square" lIns="0" tIns="0" rIns="0" bIns="0" rtlCol="0" anchor="ctr"/>
          <a:lstStyle/>
          <a:p>
            <a:pPr indent="0" marL="0">
              <a:lnSpc>
                <a:spcPct val="102000"/>
              </a:lnSpc>
              <a:buNone/>
            </a:pPr>
            <a:r>
              <a:rPr lang="en-US" sz="850" dirty="0">
                <a:solidFill>
                  <a:srgbClr val="8F2F24"/>
                </a:solidFill>
                <a:latin typeface="Cambria" pitchFamily="34" charset="0"/>
                <a:ea typeface="Cambria" pitchFamily="34" charset="-122"/>
                <a:cs typeface="Cambria" pitchFamily="34" charset="-120"/>
              </a:rPr>
              <a:t>La plus jeune des neuf</a:t>
            </a:r>
            <a:endParaRPr lang="en-US" sz="850" dirty="0"/>
          </a:p>
        </p:txBody>
      </p:sp>
      <p:sp>
        <p:nvSpPr>
          <p:cNvPr id="22" name="Shape 20"/>
          <p:cNvSpPr/>
          <p:nvPr/>
        </p:nvSpPr>
        <p:spPr>
          <a:xfrm>
            <a:off x="5349240" y="2962656"/>
            <a:ext cx="2194560" cy="868680"/>
          </a:xfrm>
          <a:prstGeom prst="rect">
            <a:avLst/>
          </a:prstGeom>
          <a:solidFill>
            <a:srgbClr val="FFFFFF"/>
          </a:solidFill>
          <a:ln w="9525">
            <a:solidFill>
              <a:srgbClr val="E5E7E9"/>
            </a:solidFill>
            <a:prstDash val="solid"/>
          </a:ln>
        </p:spPr>
      </p:sp>
      <p:sp>
        <p:nvSpPr>
          <p:cNvPr id="23" name="Text 21"/>
          <p:cNvSpPr txBox="1"/>
          <p:nvPr/>
        </p:nvSpPr>
        <p:spPr>
          <a:xfrm>
            <a:off x="5495544" y="3044952"/>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06</a:t>
            </a:r>
            <a:endParaRPr lang="en-US" sz="800" dirty="0"/>
          </a:p>
        </p:txBody>
      </p:sp>
      <p:sp>
        <p:nvSpPr>
          <p:cNvPr id="24" name="Text 22"/>
          <p:cNvSpPr txBox="1"/>
          <p:nvPr/>
        </p:nvSpPr>
        <p:spPr>
          <a:xfrm>
            <a:off x="5495544" y="3218688"/>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MINNIJEAN BROWN</a:t>
            </a:r>
            <a:endParaRPr lang="en-US" sz="1050" dirty="0"/>
          </a:p>
        </p:txBody>
      </p:sp>
      <p:sp>
        <p:nvSpPr>
          <p:cNvPr id="25" name="Text 23"/>
          <p:cNvSpPr txBox="1"/>
          <p:nvPr/>
        </p:nvSpPr>
        <p:spPr>
          <a:xfrm>
            <a:off x="5495544" y="3456432"/>
            <a:ext cx="1920240" cy="329184"/>
          </a:xfrm>
          <a:prstGeom prst="rect">
            <a:avLst/>
          </a:prstGeom>
          <a:noFill/>
          <a:ln/>
        </p:spPr>
        <p:txBody>
          <a:bodyPr wrap="square" lIns="0" tIns="0" rIns="0" bIns="0" rtlCol="0" anchor="ctr"/>
          <a:lstStyle/>
          <a:p>
            <a:pPr indent="0" marL="0">
              <a:lnSpc>
                <a:spcPct val="102000"/>
              </a:lnSpc>
              <a:buNone/>
            </a:pPr>
            <a:r>
              <a:rPr lang="en-US" sz="850" dirty="0">
                <a:solidFill>
                  <a:srgbClr val="8F2F24"/>
                </a:solidFill>
                <a:latin typeface="Cambria" pitchFamily="34" charset="0"/>
                <a:ea typeface="Cambria" pitchFamily="34" charset="-122"/>
                <a:cs typeface="Cambria" pitchFamily="34" charset="-120"/>
              </a:rPr>
              <a:t>Expulsée en février 1958</a:t>
            </a:r>
            <a:endParaRPr lang="en-US" sz="850" dirty="0"/>
          </a:p>
        </p:txBody>
      </p:sp>
      <p:sp>
        <p:nvSpPr>
          <p:cNvPr id="26" name="Shape 24"/>
          <p:cNvSpPr/>
          <p:nvPr/>
        </p:nvSpPr>
        <p:spPr>
          <a:xfrm>
            <a:off x="685800" y="3959352"/>
            <a:ext cx="2194560" cy="868680"/>
          </a:xfrm>
          <a:prstGeom prst="rect">
            <a:avLst/>
          </a:prstGeom>
          <a:solidFill>
            <a:srgbClr val="FFFFFF"/>
          </a:solidFill>
          <a:ln w="9525">
            <a:solidFill>
              <a:srgbClr val="E5E7E9"/>
            </a:solidFill>
            <a:prstDash val="solid"/>
          </a:ln>
        </p:spPr>
      </p:sp>
      <p:sp>
        <p:nvSpPr>
          <p:cNvPr id="27" name="Text 25"/>
          <p:cNvSpPr txBox="1"/>
          <p:nvPr/>
        </p:nvSpPr>
        <p:spPr>
          <a:xfrm>
            <a:off x="832104" y="4041648"/>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07</a:t>
            </a:r>
            <a:endParaRPr lang="en-US" sz="800" dirty="0"/>
          </a:p>
        </p:txBody>
      </p:sp>
      <p:sp>
        <p:nvSpPr>
          <p:cNvPr id="28" name="Text 26"/>
          <p:cNvSpPr txBox="1"/>
          <p:nvPr/>
        </p:nvSpPr>
        <p:spPr>
          <a:xfrm>
            <a:off x="832104" y="4215384"/>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GLORIA RAY</a:t>
            </a:r>
            <a:endParaRPr lang="en-US" sz="1050" dirty="0"/>
          </a:p>
        </p:txBody>
      </p:sp>
      <p:sp>
        <p:nvSpPr>
          <p:cNvPr id="29" name="Shape 27"/>
          <p:cNvSpPr/>
          <p:nvPr/>
        </p:nvSpPr>
        <p:spPr>
          <a:xfrm>
            <a:off x="3017520" y="3959352"/>
            <a:ext cx="2194560" cy="868680"/>
          </a:xfrm>
          <a:prstGeom prst="rect">
            <a:avLst/>
          </a:prstGeom>
          <a:solidFill>
            <a:srgbClr val="FFFFFF"/>
          </a:solidFill>
          <a:ln w="9525">
            <a:solidFill>
              <a:srgbClr val="E5E7E9"/>
            </a:solidFill>
            <a:prstDash val="solid"/>
          </a:ln>
        </p:spPr>
      </p:sp>
      <p:sp>
        <p:nvSpPr>
          <p:cNvPr id="30" name="Text 28"/>
          <p:cNvSpPr txBox="1"/>
          <p:nvPr/>
        </p:nvSpPr>
        <p:spPr>
          <a:xfrm>
            <a:off x="3163824" y="4041648"/>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08</a:t>
            </a:r>
            <a:endParaRPr lang="en-US" sz="800" dirty="0"/>
          </a:p>
        </p:txBody>
      </p:sp>
      <p:sp>
        <p:nvSpPr>
          <p:cNvPr id="31" name="Text 29"/>
          <p:cNvSpPr txBox="1"/>
          <p:nvPr/>
        </p:nvSpPr>
        <p:spPr>
          <a:xfrm>
            <a:off x="3163824" y="4215384"/>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THELMA MOTHERSHED</a:t>
            </a:r>
            <a:endParaRPr lang="en-US" sz="1050" dirty="0"/>
          </a:p>
        </p:txBody>
      </p:sp>
      <p:sp>
        <p:nvSpPr>
          <p:cNvPr id="32" name="Shape 30"/>
          <p:cNvSpPr/>
          <p:nvPr/>
        </p:nvSpPr>
        <p:spPr>
          <a:xfrm>
            <a:off x="5349240" y="3959352"/>
            <a:ext cx="2194560" cy="868680"/>
          </a:xfrm>
          <a:prstGeom prst="rect">
            <a:avLst/>
          </a:prstGeom>
          <a:solidFill>
            <a:srgbClr val="FFFFFF"/>
          </a:solidFill>
          <a:ln w="9525">
            <a:solidFill>
              <a:srgbClr val="E5E7E9"/>
            </a:solidFill>
            <a:prstDash val="solid"/>
          </a:ln>
        </p:spPr>
      </p:sp>
      <p:sp>
        <p:nvSpPr>
          <p:cNvPr id="33" name="Text 31"/>
          <p:cNvSpPr txBox="1"/>
          <p:nvPr/>
        </p:nvSpPr>
        <p:spPr>
          <a:xfrm>
            <a:off x="5495544" y="4041648"/>
            <a:ext cx="1920240" cy="182880"/>
          </a:xfrm>
          <a:prstGeom prst="rect">
            <a:avLst/>
          </a:prstGeom>
          <a:noFill/>
          <a:ln/>
        </p:spPr>
        <p:txBody>
          <a:bodyPr wrap="square" lIns="0" tIns="0" rIns="0" bIns="0" rtlCol="0" anchor="ctr"/>
          <a:lstStyle/>
          <a:p>
            <a:pPr indent="0" marL="0">
              <a:buNone/>
            </a:pPr>
            <a:r>
              <a:rPr lang="en-US" sz="800" spc="120" kern="0" dirty="0">
                <a:solidFill>
                  <a:srgbClr val="787F86"/>
                </a:solidFill>
                <a:latin typeface="Arial" pitchFamily="34" charset="0"/>
                <a:ea typeface="Arial" pitchFamily="34" charset="-122"/>
                <a:cs typeface="Arial" pitchFamily="34" charset="-120"/>
              </a:rPr>
              <a:t>09</a:t>
            </a:r>
            <a:endParaRPr lang="en-US" sz="800" dirty="0"/>
          </a:p>
        </p:txBody>
      </p:sp>
      <p:sp>
        <p:nvSpPr>
          <p:cNvPr id="34" name="Text 32"/>
          <p:cNvSpPr txBox="1"/>
          <p:nvPr/>
        </p:nvSpPr>
        <p:spPr>
          <a:xfrm>
            <a:off x="5495544" y="4215384"/>
            <a:ext cx="1920240" cy="228600"/>
          </a:xfrm>
          <a:prstGeom prst="rect">
            <a:avLst/>
          </a:prstGeom>
          <a:noFill/>
          <a:ln/>
        </p:spPr>
        <p:txBody>
          <a:bodyPr wrap="square" lIns="0" tIns="0" rIns="0" bIns="0" rtlCol="0" anchor="ctr"/>
          <a:lstStyle/>
          <a:p>
            <a:pPr indent="0" marL="0">
              <a:buNone/>
            </a:pPr>
            <a:r>
              <a:rPr lang="en-US" sz="1050" b="1" spc="-10" kern="0" dirty="0">
                <a:solidFill>
                  <a:srgbClr val="141618"/>
                </a:solidFill>
                <a:latin typeface="Arial" pitchFamily="34" charset="0"/>
                <a:ea typeface="Arial" pitchFamily="34" charset="-122"/>
                <a:cs typeface="Arial" pitchFamily="34" charset="-120"/>
              </a:rPr>
              <a:t>MELBA PATTILLO</a:t>
            </a:r>
            <a:endParaRPr lang="en-US" sz="1050" dirty="0"/>
          </a:p>
        </p:txBody>
      </p:sp>
      <p:pic>
        <p:nvPicPr>
          <p:cNvPr id="35" name="Image 0" descr="/home/user/Kiffclub-/little-rock-nine/images/nine-group.jpg">    </p:cNvPr>
          <p:cNvPicPr>
            <a:picLocks noChangeAspect="1"/>
          </p:cNvPicPr>
          <p:nvPr/>
        </p:nvPicPr>
        <p:blipFill>
          <a:blip r:embed="rId1"/>
          <a:srcRect l="0" r="0" t="0" b="0"/>
          <a:stretch/>
        </p:blipFill>
        <p:spPr>
          <a:xfrm>
            <a:off x="7680960" y="1965960"/>
            <a:ext cx="3840480" cy="2862072"/>
          </a:xfrm>
          <a:prstGeom prst="rect">
            <a:avLst/>
          </a:prstGeom>
        </p:spPr>
      </p:pic>
      <p:sp>
        <p:nvSpPr>
          <p:cNvPr id="36" name="Text 33"/>
          <p:cNvSpPr txBox="1"/>
          <p:nvPr/>
        </p:nvSpPr>
        <p:spPr>
          <a:xfrm>
            <a:off x="7680960" y="4892040"/>
            <a:ext cx="3840480" cy="274320"/>
          </a:xfrm>
          <a:prstGeom prst="rect">
            <a:avLst/>
          </a:prstGeom>
          <a:noFill/>
          <a:ln/>
        </p:spPr>
        <p:txBody>
          <a:bodyPr wrap="square" lIns="0" tIns="0" rIns="0" bIns="0" rtlCol="0" anchor="ctr"/>
          <a:lstStyle/>
          <a:p>
            <a:pPr indent="0" marL="0">
              <a:buNone/>
            </a:pPr>
            <a:r>
              <a:rPr lang="en-US" sz="750" dirty="0">
                <a:solidFill>
                  <a:srgbClr val="787F86"/>
                </a:solidFill>
                <a:latin typeface="Arial" pitchFamily="34" charset="0"/>
                <a:ea typeface="Arial" pitchFamily="34" charset="-122"/>
                <a:cs typeface="Arial" pitchFamily="34" charset="-120"/>
              </a:rPr>
              <a:t>Les neuf reçus par le maire de New York — Walter Albertin, Library of Congress</a:t>
            </a:r>
            <a:endParaRPr lang="en-US" sz="750" dirty="0"/>
          </a:p>
        </p:txBody>
      </p:sp>
      <p:sp>
        <p:nvSpPr>
          <p:cNvPr id="37" name="Text 34"/>
          <p:cNvSpPr txBox="1"/>
          <p:nvPr/>
        </p:nvSpPr>
        <p:spPr>
          <a:xfrm>
            <a:off x="685800" y="5120640"/>
            <a:ext cx="3419856" cy="219456"/>
          </a:xfrm>
          <a:prstGeom prst="rect">
            <a:avLst/>
          </a:prstGeom>
          <a:noFill/>
          <a:ln/>
        </p:spPr>
        <p:txBody>
          <a:bodyPr wrap="square" lIns="0" tIns="0" rIns="0" bIns="0" rtlCol="0" anchor="ctr"/>
          <a:lstStyle/>
          <a:p>
            <a:pPr indent="0" marL="0">
              <a:buNone/>
            </a:pPr>
            <a:r>
              <a:rPr lang="en-US" sz="950" b="1" spc="160" kern="0" dirty="0">
                <a:solidFill>
                  <a:srgbClr val="8F2F24"/>
                </a:solidFill>
                <a:latin typeface="Arial" pitchFamily="34" charset="0"/>
                <a:ea typeface="Arial" pitchFamily="34" charset="-122"/>
                <a:cs typeface="Arial" pitchFamily="34" charset="-120"/>
              </a:rPr>
              <a:t>TOUS LES JOURS</a:t>
            </a:r>
            <a:endParaRPr lang="en-US" sz="950" dirty="0"/>
          </a:p>
        </p:txBody>
      </p:sp>
      <p:sp>
        <p:nvSpPr>
          <p:cNvPr id="38" name="Text 35"/>
          <p:cNvSpPr txBox="1"/>
          <p:nvPr/>
        </p:nvSpPr>
        <p:spPr>
          <a:xfrm>
            <a:off x="685800" y="5367528"/>
            <a:ext cx="3419856" cy="822960"/>
          </a:xfrm>
          <a:prstGeom prst="rect">
            <a:avLst/>
          </a:prstGeom>
          <a:noFill/>
          <a:ln/>
        </p:spPr>
        <p:txBody>
          <a:bodyPr wrap="square" lIns="0" tIns="0" rIns="0" bIns="0" rtlCol="0" anchor="ctr"/>
          <a:lstStyle/>
          <a:p>
            <a:pPr indent="0" marL="0">
              <a:lnSpc>
                <a:spcPct val="108000"/>
              </a:lnSpc>
              <a:buNone/>
            </a:pPr>
            <a:r>
              <a:rPr lang="en-US" sz="1150" dirty="0">
                <a:solidFill>
                  <a:srgbClr val="31363B"/>
                </a:solidFill>
                <a:latin typeface="Cambria" pitchFamily="34" charset="0"/>
                <a:ea typeface="Cambria" pitchFamily="34" charset="-122"/>
                <a:cs typeface="Cambria" pitchFamily="34" charset="-120"/>
              </a:rPr>
              <a:t>Insultes et crachats dans les couloirs. Bousculades dans les escaliers. De l'eau brûlante dans les douches.</a:t>
            </a:r>
            <a:endParaRPr lang="en-US" sz="1150" dirty="0"/>
          </a:p>
        </p:txBody>
      </p:sp>
      <p:sp>
        <p:nvSpPr>
          <p:cNvPr id="39" name="Text 36"/>
          <p:cNvSpPr txBox="1"/>
          <p:nvPr/>
        </p:nvSpPr>
        <p:spPr>
          <a:xfrm>
            <a:off x="4379976" y="5120640"/>
            <a:ext cx="3419856" cy="219456"/>
          </a:xfrm>
          <a:prstGeom prst="rect">
            <a:avLst/>
          </a:prstGeom>
          <a:noFill/>
          <a:ln/>
        </p:spPr>
        <p:txBody>
          <a:bodyPr wrap="square" lIns="0" tIns="0" rIns="0" bIns="0" rtlCol="0" anchor="ctr"/>
          <a:lstStyle/>
          <a:p>
            <a:pPr indent="0" marL="0">
              <a:buNone/>
            </a:pPr>
            <a:r>
              <a:rPr lang="en-US" sz="950" b="1" spc="160" kern="0" dirty="0">
                <a:solidFill>
                  <a:srgbClr val="8F2F24"/>
                </a:solidFill>
                <a:latin typeface="Arial" pitchFamily="34" charset="0"/>
                <a:ea typeface="Arial" pitchFamily="34" charset="-122"/>
                <a:cs typeface="Arial" pitchFamily="34" charset="-120"/>
              </a:rPr>
              <a:t>LES GARDES</a:t>
            </a:r>
            <a:endParaRPr lang="en-US" sz="950" dirty="0"/>
          </a:p>
        </p:txBody>
      </p:sp>
      <p:sp>
        <p:nvSpPr>
          <p:cNvPr id="40" name="Text 37"/>
          <p:cNvSpPr txBox="1"/>
          <p:nvPr/>
        </p:nvSpPr>
        <p:spPr>
          <a:xfrm>
            <a:off x="4379976" y="5367528"/>
            <a:ext cx="3419856" cy="822960"/>
          </a:xfrm>
          <a:prstGeom prst="rect">
            <a:avLst/>
          </a:prstGeom>
          <a:noFill/>
          <a:ln/>
        </p:spPr>
        <p:txBody>
          <a:bodyPr wrap="square" lIns="0" tIns="0" rIns="0" bIns="0" rtlCol="0" anchor="ctr"/>
          <a:lstStyle/>
          <a:p>
            <a:pPr indent="0" marL="0">
              <a:lnSpc>
                <a:spcPct val="108000"/>
              </a:lnSpc>
              <a:buNone/>
            </a:pPr>
            <a:r>
              <a:rPr lang="en-US" sz="1150" dirty="0">
                <a:solidFill>
                  <a:srgbClr val="31363B"/>
                </a:solidFill>
                <a:latin typeface="Cambria" pitchFamily="34" charset="0"/>
                <a:ea typeface="Cambria" pitchFamily="34" charset="-122"/>
                <a:cs typeface="Cambria" pitchFamily="34" charset="-120"/>
              </a:rPr>
              <a:t>Ils ne pouvaient pas entrer partout : ni dans les vestiaires, ni dans les toilettes. C'est là que ça se passait.</a:t>
            </a:r>
            <a:endParaRPr lang="en-US" sz="1150" dirty="0"/>
          </a:p>
        </p:txBody>
      </p:sp>
      <p:sp>
        <p:nvSpPr>
          <p:cNvPr id="41" name="Text 38"/>
          <p:cNvSpPr txBox="1"/>
          <p:nvPr/>
        </p:nvSpPr>
        <p:spPr>
          <a:xfrm>
            <a:off x="8074152" y="5120640"/>
            <a:ext cx="3419856" cy="219456"/>
          </a:xfrm>
          <a:prstGeom prst="rect">
            <a:avLst/>
          </a:prstGeom>
          <a:noFill/>
          <a:ln/>
        </p:spPr>
        <p:txBody>
          <a:bodyPr wrap="square" lIns="0" tIns="0" rIns="0" bIns="0" rtlCol="0" anchor="ctr"/>
          <a:lstStyle/>
          <a:p>
            <a:pPr indent="0" marL="0">
              <a:buNone/>
            </a:pPr>
            <a:r>
              <a:rPr lang="en-US" sz="950" b="1" spc="160" kern="0" dirty="0">
                <a:solidFill>
                  <a:srgbClr val="8F2F24"/>
                </a:solidFill>
                <a:latin typeface="Arial" pitchFamily="34" charset="0"/>
                <a:ea typeface="Arial" pitchFamily="34" charset="-122"/>
                <a:cs typeface="Arial" pitchFamily="34" charset="-120"/>
              </a:rPr>
              <a:t>FÉVRIER 1958</a:t>
            </a:r>
            <a:endParaRPr lang="en-US" sz="950" dirty="0"/>
          </a:p>
        </p:txBody>
      </p:sp>
      <p:sp>
        <p:nvSpPr>
          <p:cNvPr id="42" name="Text 39"/>
          <p:cNvSpPr txBox="1"/>
          <p:nvPr/>
        </p:nvSpPr>
        <p:spPr>
          <a:xfrm>
            <a:off x="8074152" y="5367528"/>
            <a:ext cx="3419856" cy="822960"/>
          </a:xfrm>
          <a:prstGeom prst="rect">
            <a:avLst/>
          </a:prstGeom>
          <a:noFill/>
          <a:ln/>
        </p:spPr>
        <p:txBody>
          <a:bodyPr wrap="square" lIns="0" tIns="0" rIns="0" bIns="0" rtlCol="0" anchor="ctr"/>
          <a:lstStyle/>
          <a:p>
            <a:pPr indent="0" marL="0">
              <a:lnSpc>
                <a:spcPct val="108000"/>
              </a:lnSpc>
              <a:buNone/>
            </a:pPr>
            <a:r>
              <a:rPr lang="en-US" sz="1150" dirty="0">
                <a:solidFill>
                  <a:srgbClr val="31363B"/>
                </a:solidFill>
                <a:latin typeface="Cambria" pitchFamily="34" charset="0"/>
                <a:ea typeface="Cambria" pitchFamily="34" charset="-122"/>
                <a:cs typeface="Cambria" pitchFamily="34" charset="-120"/>
              </a:rPr>
              <a:t>Minnijean Brown est expulsée après avoir répondu à ses harceleuses. Aucun élève blanc ne l'a été.</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2F3"/>
        </a:solidFill>
      </p:bgPr>
    </p:bg>
    <p:spTree>
      <p:nvGrpSpPr>
        <p:cNvPr id="1" name=""/>
        <p:cNvGrpSpPr/>
        <p:nvPr/>
      </p:nvGrpSpPr>
      <p:grpSpPr>
        <a:xfrm>
          <a:off x="0" y="0"/>
          <a:ext cx="0" cy="0"/>
          <a:chOff x="0" y="0"/>
          <a:chExt cx="0" cy="0"/>
        </a:xfrm>
      </p:grpSpPr>
      <p:sp>
        <p:nvSpPr>
          <p:cNvPr id="2" name="Text 0"/>
          <p:cNvSpPr txBox="1"/>
          <p:nvPr/>
        </p:nvSpPr>
        <p:spPr>
          <a:xfrm>
            <a:off x="685800" y="502920"/>
            <a:ext cx="7315200" cy="256032"/>
          </a:xfrm>
          <a:prstGeom prst="rect">
            <a:avLst/>
          </a:prstGeom>
          <a:noFill/>
          <a:ln/>
        </p:spPr>
        <p:txBody>
          <a:bodyPr wrap="square" lIns="0" tIns="0" rIns="0" bIns="0" rtlCol="0" anchor="ctr"/>
          <a:lstStyle/>
          <a:p>
            <a:pPr indent="0" marL="0">
              <a:buNone/>
            </a:pPr>
            <a:r>
              <a:rPr lang="en-US" sz="1000" b="1" spc="240" kern="0" dirty="0">
                <a:solidFill>
                  <a:srgbClr val="8F2F24"/>
                </a:solidFill>
                <a:latin typeface="Arial" pitchFamily="34" charset="0"/>
                <a:ea typeface="Arial" pitchFamily="34" charset="-122"/>
                <a:cs typeface="Arial" pitchFamily="34" charset="-120"/>
              </a:rPr>
              <a:t>CE QUE ÇA A CHANGÉ</a:t>
            </a:r>
            <a:endParaRPr lang="en-US" sz="1000" dirty="0"/>
          </a:p>
        </p:txBody>
      </p:sp>
      <p:sp>
        <p:nvSpPr>
          <p:cNvPr id="3" name="Text 1"/>
          <p:cNvSpPr txBox="1"/>
          <p:nvPr/>
        </p:nvSpPr>
        <p:spPr>
          <a:xfrm>
            <a:off x="685800" y="822960"/>
            <a:ext cx="5943600" cy="1051560"/>
          </a:xfrm>
          <a:prstGeom prst="rect">
            <a:avLst/>
          </a:prstGeom>
          <a:noFill/>
          <a:ln/>
        </p:spPr>
        <p:txBody>
          <a:bodyPr wrap="square" lIns="0" tIns="0" rIns="0" bIns="0" rtlCol="0" anchor="ctr"/>
          <a:lstStyle/>
          <a:p>
            <a:pPr indent="0" marL="0">
              <a:lnSpc>
                <a:spcPct val="92000"/>
              </a:lnSpc>
              <a:buNone/>
            </a:pPr>
            <a:r>
              <a:rPr lang="en-US" sz="3400" b="1" spc="-30" kern="0" dirty="0">
                <a:solidFill>
                  <a:srgbClr val="141618"/>
                </a:solidFill>
                <a:latin typeface="Arial" pitchFamily="34" charset="0"/>
                <a:ea typeface="Arial" pitchFamily="34" charset="-122"/>
                <a:cs typeface="Arial" pitchFamily="34" charset="-120"/>
              </a:rPr>
              <a:t>UN PRÉCÉDENT FÉDÉRAL</a:t>
            </a:r>
            <a:endParaRPr lang="en-US" sz="3400" dirty="0"/>
          </a:p>
        </p:txBody>
      </p:sp>
      <p:sp>
        <p:nvSpPr>
          <p:cNvPr id="4" name="Text 2"/>
          <p:cNvSpPr txBox="1"/>
          <p:nvPr/>
        </p:nvSpPr>
        <p:spPr>
          <a:xfrm>
            <a:off x="685800" y="1965960"/>
            <a:ext cx="5760720" cy="914400"/>
          </a:xfrm>
          <a:prstGeom prst="rect">
            <a:avLst/>
          </a:prstGeom>
          <a:noFill/>
          <a:ln/>
        </p:spPr>
        <p:txBody>
          <a:bodyPr wrap="square" lIns="0" tIns="0" rIns="0" bIns="0" rtlCol="0" anchor="ctr"/>
          <a:lstStyle/>
          <a:p>
            <a:pPr indent="0" marL="0">
              <a:lnSpc>
                <a:spcPct val="110000"/>
              </a:lnSpc>
              <a:buNone/>
            </a:pPr>
            <a:r>
              <a:rPr lang="en-US" sz="1350" dirty="0">
                <a:solidFill>
                  <a:srgbClr val="31363B"/>
                </a:solidFill>
                <a:latin typeface="Cambria" pitchFamily="34" charset="0"/>
                <a:ea typeface="Cambria" pitchFamily="34" charset="-122"/>
                <a:cs typeface="Cambria" pitchFamily="34" charset="-120"/>
              </a:rPr>
              <a:t>Pour la première fois depuis la Reconstruction, un président envoie l'armée fédérale dans le Sud pour faire appliquer les droits civiques. Le message est clair : un État ne peut pas désobéir aux tribunaux.</a:t>
            </a:r>
            <a:endParaRPr lang="en-US" sz="1350" dirty="0"/>
          </a:p>
        </p:txBody>
      </p:sp>
      <p:sp>
        <p:nvSpPr>
          <p:cNvPr id="5" name="Text 3"/>
          <p:cNvSpPr txBox="1"/>
          <p:nvPr/>
        </p:nvSpPr>
        <p:spPr>
          <a:xfrm>
            <a:off x="685800" y="3227832"/>
            <a:ext cx="1097280" cy="256032"/>
          </a:xfrm>
          <a:prstGeom prst="rect">
            <a:avLst/>
          </a:prstGeom>
          <a:noFill/>
          <a:ln/>
        </p:spPr>
        <p:txBody>
          <a:bodyPr wrap="square" lIns="0" tIns="0" rIns="0" bIns="0" rtlCol="0" anchor="ctr"/>
          <a:lstStyle/>
          <a:p>
            <a:pPr indent="0" marL="0">
              <a:buNone/>
            </a:pPr>
            <a:r>
              <a:rPr lang="en-US" sz="1050" b="1" spc="100" kern="0" dirty="0">
                <a:solidFill>
                  <a:srgbClr val="8F2F24"/>
                </a:solidFill>
                <a:latin typeface="Arial" pitchFamily="34" charset="0"/>
                <a:ea typeface="Arial" pitchFamily="34" charset="-122"/>
                <a:cs typeface="Arial" pitchFamily="34" charset="-120"/>
              </a:rPr>
              <a:t>MAI 1958</a:t>
            </a:r>
            <a:endParaRPr lang="en-US" sz="1050" dirty="0"/>
          </a:p>
        </p:txBody>
      </p:sp>
      <p:sp>
        <p:nvSpPr>
          <p:cNvPr id="6" name="Text 4"/>
          <p:cNvSpPr txBox="1"/>
          <p:nvPr/>
        </p:nvSpPr>
        <p:spPr>
          <a:xfrm>
            <a:off x="1874520" y="3200400"/>
            <a:ext cx="4572000" cy="685800"/>
          </a:xfrm>
          <a:prstGeom prst="rect">
            <a:avLst/>
          </a:prstGeom>
          <a:noFill/>
          <a:ln/>
        </p:spPr>
        <p:txBody>
          <a:bodyPr wrap="square" lIns="0" tIns="0" rIns="0" bIns="0" rtlCol="0" anchor="ctr"/>
          <a:lstStyle/>
          <a:p>
            <a:pPr indent="0" marL="0">
              <a:lnSpc>
                <a:spcPct val="106000"/>
              </a:lnSpc>
              <a:buNone/>
            </a:pPr>
            <a:r>
              <a:rPr lang="en-US" sz="1250" dirty="0">
                <a:solidFill>
                  <a:srgbClr val="31363B"/>
                </a:solidFill>
                <a:latin typeface="Cambria" pitchFamily="34" charset="0"/>
                <a:ea typeface="Cambria" pitchFamily="34" charset="-122"/>
                <a:cs typeface="Cambria" pitchFamily="34" charset="-120"/>
              </a:rPr>
              <a:t>Ernest Green est diplômé de Central High. Martin Luther King est dans la salle.</a:t>
            </a:r>
            <a:endParaRPr lang="en-US" sz="1250" dirty="0"/>
          </a:p>
        </p:txBody>
      </p:sp>
      <p:sp>
        <p:nvSpPr>
          <p:cNvPr id="7" name="Text 5"/>
          <p:cNvSpPr txBox="1"/>
          <p:nvPr/>
        </p:nvSpPr>
        <p:spPr>
          <a:xfrm>
            <a:off x="685800" y="4014216"/>
            <a:ext cx="1097280" cy="256032"/>
          </a:xfrm>
          <a:prstGeom prst="rect">
            <a:avLst/>
          </a:prstGeom>
          <a:noFill/>
          <a:ln/>
        </p:spPr>
        <p:txBody>
          <a:bodyPr wrap="square" lIns="0" tIns="0" rIns="0" bIns="0" rtlCol="0" anchor="ctr"/>
          <a:lstStyle/>
          <a:p>
            <a:pPr indent="0" marL="0">
              <a:buNone/>
            </a:pPr>
            <a:r>
              <a:rPr lang="en-US" sz="1050" b="1" spc="100" kern="0" dirty="0">
                <a:solidFill>
                  <a:srgbClr val="8F2F24"/>
                </a:solidFill>
                <a:latin typeface="Arial" pitchFamily="34" charset="0"/>
                <a:ea typeface="Arial" pitchFamily="34" charset="-122"/>
                <a:cs typeface="Arial" pitchFamily="34" charset="-120"/>
              </a:rPr>
              <a:t>1958-59</a:t>
            </a:r>
            <a:endParaRPr lang="en-US" sz="1050" dirty="0"/>
          </a:p>
        </p:txBody>
      </p:sp>
      <p:sp>
        <p:nvSpPr>
          <p:cNvPr id="8" name="Text 6"/>
          <p:cNvSpPr txBox="1"/>
          <p:nvPr/>
        </p:nvSpPr>
        <p:spPr>
          <a:xfrm>
            <a:off x="1874520" y="3986784"/>
            <a:ext cx="4572000" cy="685800"/>
          </a:xfrm>
          <a:prstGeom prst="rect">
            <a:avLst/>
          </a:prstGeom>
          <a:noFill/>
          <a:ln/>
        </p:spPr>
        <p:txBody>
          <a:bodyPr wrap="square" lIns="0" tIns="0" rIns="0" bIns="0" rtlCol="0" anchor="ctr"/>
          <a:lstStyle/>
          <a:p>
            <a:pPr indent="0" marL="0">
              <a:lnSpc>
                <a:spcPct val="106000"/>
              </a:lnSpc>
              <a:buNone/>
            </a:pPr>
            <a:r>
              <a:rPr lang="en-US" sz="1250" dirty="0">
                <a:solidFill>
                  <a:srgbClr val="31363B"/>
                </a:solidFill>
                <a:latin typeface="Cambria" pitchFamily="34" charset="0"/>
                <a:ea typeface="Cambria" pitchFamily="34" charset="-122"/>
                <a:cs typeface="Cambria" pitchFamily="34" charset="-120"/>
              </a:rPr>
              <a:t>« The Lost Year » : Faubus ferme tous les lycées de Little Rock plutôt que de les intégrer.</a:t>
            </a:r>
            <a:endParaRPr lang="en-US" sz="1250" dirty="0"/>
          </a:p>
        </p:txBody>
      </p:sp>
      <p:sp>
        <p:nvSpPr>
          <p:cNvPr id="9" name="Text 7"/>
          <p:cNvSpPr txBox="1"/>
          <p:nvPr/>
        </p:nvSpPr>
        <p:spPr>
          <a:xfrm>
            <a:off x="685800" y="4800600"/>
            <a:ext cx="1097280" cy="256032"/>
          </a:xfrm>
          <a:prstGeom prst="rect">
            <a:avLst/>
          </a:prstGeom>
          <a:noFill/>
          <a:ln/>
        </p:spPr>
        <p:txBody>
          <a:bodyPr wrap="square" lIns="0" tIns="0" rIns="0" bIns="0" rtlCol="0" anchor="ctr"/>
          <a:lstStyle/>
          <a:p>
            <a:pPr indent="0" marL="0">
              <a:buNone/>
            </a:pPr>
            <a:r>
              <a:rPr lang="en-US" sz="1050" b="1" spc="100" kern="0" dirty="0">
                <a:solidFill>
                  <a:srgbClr val="8F2F24"/>
                </a:solidFill>
                <a:latin typeface="Arial" pitchFamily="34" charset="0"/>
                <a:ea typeface="Arial" pitchFamily="34" charset="-122"/>
                <a:cs typeface="Arial" pitchFamily="34" charset="-120"/>
              </a:rPr>
              <a:t>1998</a:t>
            </a:r>
            <a:endParaRPr lang="en-US" sz="1050" dirty="0"/>
          </a:p>
        </p:txBody>
      </p:sp>
      <p:sp>
        <p:nvSpPr>
          <p:cNvPr id="10" name="Text 8"/>
          <p:cNvSpPr txBox="1"/>
          <p:nvPr/>
        </p:nvSpPr>
        <p:spPr>
          <a:xfrm>
            <a:off x="1874520" y="4773168"/>
            <a:ext cx="4572000" cy="685800"/>
          </a:xfrm>
          <a:prstGeom prst="rect">
            <a:avLst/>
          </a:prstGeom>
          <a:noFill/>
          <a:ln/>
        </p:spPr>
        <p:txBody>
          <a:bodyPr wrap="square" lIns="0" tIns="0" rIns="0" bIns="0" rtlCol="0" anchor="ctr"/>
          <a:lstStyle/>
          <a:p>
            <a:pPr indent="0" marL="0">
              <a:lnSpc>
                <a:spcPct val="106000"/>
              </a:lnSpc>
              <a:buNone/>
            </a:pPr>
            <a:r>
              <a:rPr lang="en-US" sz="1250" dirty="0">
                <a:solidFill>
                  <a:srgbClr val="31363B"/>
                </a:solidFill>
                <a:latin typeface="Cambria" pitchFamily="34" charset="0"/>
                <a:ea typeface="Cambria" pitchFamily="34" charset="-122"/>
                <a:cs typeface="Cambria" pitchFamily="34" charset="-120"/>
              </a:rPr>
              <a:t>Central High devient site historique national.</a:t>
            </a:r>
            <a:endParaRPr lang="en-US" sz="1250" dirty="0"/>
          </a:p>
        </p:txBody>
      </p:sp>
      <p:sp>
        <p:nvSpPr>
          <p:cNvPr id="11" name="Text 9"/>
          <p:cNvSpPr txBox="1"/>
          <p:nvPr/>
        </p:nvSpPr>
        <p:spPr>
          <a:xfrm>
            <a:off x="685800" y="5586984"/>
            <a:ext cx="1097280" cy="256032"/>
          </a:xfrm>
          <a:prstGeom prst="rect">
            <a:avLst/>
          </a:prstGeom>
          <a:noFill/>
          <a:ln/>
        </p:spPr>
        <p:txBody>
          <a:bodyPr wrap="square" lIns="0" tIns="0" rIns="0" bIns="0" rtlCol="0" anchor="ctr"/>
          <a:lstStyle/>
          <a:p>
            <a:pPr indent="0" marL="0">
              <a:buNone/>
            </a:pPr>
            <a:r>
              <a:rPr lang="en-US" sz="1050" b="1" spc="100" kern="0" dirty="0">
                <a:solidFill>
                  <a:srgbClr val="8F2F24"/>
                </a:solidFill>
                <a:latin typeface="Arial" pitchFamily="34" charset="0"/>
                <a:ea typeface="Arial" pitchFamily="34" charset="-122"/>
                <a:cs typeface="Arial" pitchFamily="34" charset="-120"/>
              </a:rPr>
              <a:t>1999</a:t>
            </a:r>
            <a:endParaRPr lang="en-US" sz="1050" dirty="0"/>
          </a:p>
        </p:txBody>
      </p:sp>
      <p:sp>
        <p:nvSpPr>
          <p:cNvPr id="12" name="Text 10"/>
          <p:cNvSpPr txBox="1"/>
          <p:nvPr/>
        </p:nvSpPr>
        <p:spPr>
          <a:xfrm>
            <a:off x="1874520" y="5559552"/>
            <a:ext cx="4572000" cy="685800"/>
          </a:xfrm>
          <a:prstGeom prst="rect">
            <a:avLst/>
          </a:prstGeom>
          <a:noFill/>
          <a:ln/>
        </p:spPr>
        <p:txBody>
          <a:bodyPr wrap="square" lIns="0" tIns="0" rIns="0" bIns="0" rtlCol="0" anchor="ctr"/>
          <a:lstStyle/>
          <a:p>
            <a:pPr indent="0" marL="0">
              <a:lnSpc>
                <a:spcPct val="106000"/>
              </a:lnSpc>
              <a:buNone/>
            </a:pPr>
            <a:r>
              <a:rPr lang="en-US" sz="1250" dirty="0">
                <a:solidFill>
                  <a:srgbClr val="31363B"/>
                </a:solidFill>
                <a:latin typeface="Cambria" pitchFamily="34" charset="0"/>
                <a:ea typeface="Cambria" pitchFamily="34" charset="-122"/>
                <a:cs typeface="Cambria" pitchFamily="34" charset="-120"/>
              </a:rPr>
              <a:t>Les neuf reçoivent la Médaille d'or du Congrès, remise par Bill Clinton.</a:t>
            </a:r>
            <a:endParaRPr lang="en-US" sz="1250" dirty="0"/>
          </a:p>
        </p:txBody>
      </p:sp>
      <p:pic>
        <p:nvPicPr>
          <p:cNvPr id="13" name="Image 0" descr="/home/user/Kiffclub-/little-rock-nine/images/goldmedal.jpg">    </p:cNvPr>
          <p:cNvPicPr>
            <a:picLocks noChangeAspect="1"/>
          </p:cNvPicPr>
          <p:nvPr/>
        </p:nvPicPr>
        <p:blipFill>
          <a:blip r:embed="rId1"/>
          <a:srcRect l="0" r="0" t="0" b="0"/>
          <a:stretch/>
        </p:blipFill>
        <p:spPr>
          <a:xfrm>
            <a:off x="7360920" y="1554480"/>
            <a:ext cx="3840480" cy="3364992"/>
          </a:xfrm>
          <a:prstGeom prst="rect">
            <a:avLst/>
          </a:prstGeom>
        </p:spPr>
      </p:pic>
      <p:sp>
        <p:nvSpPr>
          <p:cNvPr id="14" name="Text 11"/>
          <p:cNvSpPr txBox="1"/>
          <p:nvPr/>
        </p:nvSpPr>
        <p:spPr>
          <a:xfrm>
            <a:off x="7360920" y="5010912"/>
            <a:ext cx="3840480" cy="274320"/>
          </a:xfrm>
          <a:prstGeom prst="rect">
            <a:avLst/>
          </a:prstGeom>
          <a:noFill/>
          <a:ln/>
        </p:spPr>
        <p:txBody>
          <a:bodyPr wrap="square" lIns="0" tIns="0" rIns="0" bIns="0" rtlCol="0" anchor="ctr"/>
          <a:lstStyle/>
          <a:p>
            <a:pPr indent="0" marL="0">
              <a:buNone/>
            </a:pPr>
            <a:r>
              <a:rPr lang="en-US" sz="750" dirty="0">
                <a:solidFill>
                  <a:srgbClr val="787F86"/>
                </a:solidFill>
                <a:latin typeface="Arial" pitchFamily="34" charset="0"/>
                <a:ea typeface="Arial" pitchFamily="34" charset="-122"/>
                <a:cs typeface="Arial" pitchFamily="34" charset="-120"/>
              </a:rPr>
              <a:t>Médaille d'or du Congrès, 1999 — United States Mint, domaine public</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8"/>
        </a:solidFill>
      </p:bgPr>
    </p:bg>
    <p:spTree>
      <p:nvGrpSpPr>
        <p:cNvPr id="1" name=""/>
        <p:cNvGrpSpPr/>
        <p:nvPr/>
      </p:nvGrpSpPr>
      <p:grpSpPr>
        <a:xfrm>
          <a:off x="0" y="0"/>
          <a:ext cx="0" cy="0"/>
          <a:chOff x="0" y="0"/>
          <a:chExt cx="0" cy="0"/>
        </a:xfrm>
      </p:grpSpPr>
      <p:sp>
        <p:nvSpPr>
          <p:cNvPr id="2" name="Text 0"/>
          <p:cNvSpPr txBox="1"/>
          <p:nvPr/>
        </p:nvSpPr>
        <p:spPr>
          <a:xfrm>
            <a:off x="685800" y="566928"/>
            <a:ext cx="7315200" cy="256032"/>
          </a:xfrm>
          <a:prstGeom prst="rect">
            <a:avLst/>
          </a:prstGeom>
          <a:noFill/>
          <a:ln/>
        </p:spPr>
        <p:txBody>
          <a:bodyPr wrap="square" lIns="0" tIns="0" rIns="0" bIns="0" rtlCol="0" anchor="ctr"/>
          <a:lstStyle/>
          <a:p>
            <a:pPr indent="0" marL="0">
              <a:buNone/>
            </a:pPr>
            <a:r>
              <a:rPr lang="en-US" sz="1000" b="1" spc="240" kern="0" dirty="0">
                <a:solidFill>
                  <a:srgbClr val="CD7264"/>
                </a:solidFill>
                <a:latin typeface="Arial" pitchFamily="34" charset="0"/>
                <a:ea typeface="Arial" pitchFamily="34" charset="-122"/>
                <a:cs typeface="Arial" pitchFamily="34" charset="-120"/>
              </a:rPr>
              <a:t>AUJOURD'HUI</a:t>
            </a:r>
            <a:endParaRPr lang="en-US" sz="1000" dirty="0"/>
          </a:p>
        </p:txBody>
      </p:sp>
      <p:sp>
        <p:nvSpPr>
          <p:cNvPr id="3" name="Text 1"/>
          <p:cNvSpPr txBox="1"/>
          <p:nvPr/>
        </p:nvSpPr>
        <p:spPr>
          <a:xfrm>
            <a:off x="685800" y="896112"/>
            <a:ext cx="8686800" cy="1051560"/>
          </a:xfrm>
          <a:prstGeom prst="rect">
            <a:avLst/>
          </a:prstGeom>
          <a:noFill/>
          <a:ln/>
        </p:spPr>
        <p:txBody>
          <a:bodyPr wrap="square" lIns="0" tIns="0" rIns="0" bIns="0" rtlCol="0" anchor="ctr"/>
          <a:lstStyle/>
          <a:p>
            <a:pPr indent="0" marL="0">
              <a:lnSpc>
                <a:spcPct val="92000"/>
              </a:lnSpc>
              <a:buNone/>
            </a:pPr>
            <a:r>
              <a:rPr lang="en-US" sz="3400" b="1" spc="-30" kern="0" dirty="0">
                <a:solidFill>
                  <a:srgbClr val="FFFFFF"/>
                </a:solidFill>
                <a:latin typeface="Arial" pitchFamily="34" charset="0"/>
                <a:ea typeface="Arial" pitchFamily="34" charset="-122"/>
                <a:cs typeface="Arial" pitchFamily="34" charset="-120"/>
              </a:rPr>
              <a:t>LE LIEU SE VISITE, LE LYCÉE FONCTIONNE</a:t>
            </a:r>
            <a:endParaRPr lang="en-US" sz="3400" dirty="0"/>
          </a:p>
        </p:txBody>
      </p:sp>
      <p:sp>
        <p:nvSpPr>
          <p:cNvPr id="4" name="Text 2"/>
          <p:cNvSpPr txBox="1"/>
          <p:nvPr/>
        </p:nvSpPr>
        <p:spPr>
          <a:xfrm>
            <a:off x="685800" y="1965960"/>
            <a:ext cx="7863840" cy="548640"/>
          </a:xfrm>
          <a:prstGeom prst="rect">
            <a:avLst/>
          </a:prstGeom>
          <a:noFill/>
          <a:ln/>
        </p:spPr>
        <p:txBody>
          <a:bodyPr wrap="square" lIns="0" tIns="0" rIns="0" bIns="0" rtlCol="0" anchor="ctr"/>
          <a:lstStyle/>
          <a:p>
            <a:pPr indent="0" marL="0">
              <a:lnSpc>
                <a:spcPct val="110000"/>
              </a:lnSpc>
              <a:buNone/>
            </a:pPr>
            <a:r>
              <a:rPr lang="en-US" sz="1300" dirty="0">
                <a:solidFill>
                  <a:srgbClr val="C7CCD1"/>
                </a:solidFill>
                <a:latin typeface="Cambria" pitchFamily="34" charset="0"/>
                <a:ea typeface="Cambria" pitchFamily="34" charset="-122"/>
                <a:cs typeface="Cambria" pitchFamily="34" charset="-120"/>
              </a:rPr>
              <a:t>Sur le trottoir du 16e et Park Street, un banc rappelle celui où Elizabeth Eckford s'est assise le 4 septembre 1957, en attendant un bus, entourée par la foule.</a:t>
            </a:r>
            <a:endParaRPr lang="en-US" sz="1300" dirty="0"/>
          </a:p>
        </p:txBody>
      </p:sp>
      <p:pic>
        <p:nvPicPr>
          <p:cNvPr id="5" name="Image 0" descr="/home/user/Kiffclub-/little-rock-nine/images/bench.jpg">    </p:cNvPr>
          <p:cNvPicPr>
            <a:picLocks noChangeAspect="1"/>
          </p:cNvPicPr>
          <p:nvPr/>
        </p:nvPicPr>
        <p:blipFill>
          <a:blip r:embed="rId1"/>
          <a:srcRect l="0" r="0" t="0" b="0"/>
          <a:stretch/>
        </p:blipFill>
        <p:spPr>
          <a:xfrm>
            <a:off x="685800" y="2697480"/>
            <a:ext cx="2505456" cy="1783080"/>
          </a:xfrm>
          <a:prstGeom prst="rect">
            <a:avLst/>
          </a:prstGeom>
        </p:spPr>
      </p:pic>
      <p:sp>
        <p:nvSpPr>
          <p:cNvPr id="6" name="Text 3"/>
          <p:cNvSpPr txBox="1"/>
          <p:nvPr/>
        </p:nvSpPr>
        <p:spPr>
          <a:xfrm>
            <a:off x="685800" y="4572000"/>
            <a:ext cx="2505456" cy="457200"/>
          </a:xfrm>
          <a:prstGeom prst="rect">
            <a:avLst/>
          </a:prstGeom>
          <a:noFill/>
          <a:ln/>
        </p:spPr>
        <p:txBody>
          <a:bodyPr wrap="square" lIns="0" tIns="0" rIns="0" bIns="0" rtlCol="0" anchor="ctr"/>
          <a:lstStyle/>
          <a:p>
            <a:pPr indent="0" marL="0">
              <a:lnSpc>
                <a:spcPct val="106000"/>
              </a:lnSpc>
              <a:buNone/>
            </a:pPr>
            <a:r>
              <a:rPr lang="en-US" sz="1000" dirty="0">
                <a:solidFill>
                  <a:srgbClr val="C7CCD1"/>
                </a:solidFill>
                <a:latin typeface="Cambria" pitchFamily="34" charset="0"/>
                <a:ea typeface="Cambria" pitchFamily="34" charset="-122"/>
                <a:cs typeface="Cambria" pitchFamily="34" charset="-120"/>
              </a:rPr>
              <a:t>Le banc d'Elizabeth Eckford, reconstitué sur le trottoir.</a:t>
            </a:r>
            <a:endParaRPr lang="en-US" sz="1000" dirty="0"/>
          </a:p>
        </p:txBody>
      </p:sp>
      <p:sp>
        <p:nvSpPr>
          <p:cNvPr id="7" name="Text 4"/>
          <p:cNvSpPr txBox="1"/>
          <p:nvPr/>
        </p:nvSpPr>
        <p:spPr>
          <a:xfrm>
            <a:off x="685800" y="5257800"/>
            <a:ext cx="2505456"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Ser Amantio di Nicolao, CC BY-SA 4.0</a:t>
            </a:r>
            <a:endParaRPr lang="en-US" sz="750" dirty="0"/>
          </a:p>
        </p:txBody>
      </p:sp>
      <p:pic>
        <p:nvPicPr>
          <p:cNvPr id="8" name="Image 1" descr="/home/user/Kiffclub-/little-rock-nine/images/melba.jpg">    </p:cNvPr>
          <p:cNvPicPr>
            <a:picLocks noChangeAspect="1"/>
          </p:cNvPicPr>
          <p:nvPr/>
        </p:nvPicPr>
        <p:blipFill>
          <a:blip r:embed="rId2"/>
          <a:srcRect l="0" r="0" t="0" b="0"/>
          <a:stretch/>
        </p:blipFill>
        <p:spPr>
          <a:xfrm>
            <a:off x="3447288" y="2697480"/>
            <a:ext cx="2505456" cy="1783080"/>
          </a:xfrm>
          <a:prstGeom prst="rect">
            <a:avLst/>
          </a:prstGeom>
        </p:spPr>
      </p:pic>
      <p:sp>
        <p:nvSpPr>
          <p:cNvPr id="9" name="Text 5"/>
          <p:cNvSpPr txBox="1"/>
          <p:nvPr/>
        </p:nvSpPr>
        <p:spPr>
          <a:xfrm>
            <a:off x="3447288" y="4572000"/>
            <a:ext cx="2505456" cy="457200"/>
          </a:xfrm>
          <a:prstGeom prst="rect">
            <a:avLst/>
          </a:prstGeom>
          <a:noFill/>
          <a:ln/>
        </p:spPr>
        <p:txBody>
          <a:bodyPr wrap="square" lIns="0" tIns="0" rIns="0" bIns="0" rtlCol="0" anchor="ctr"/>
          <a:lstStyle/>
          <a:p>
            <a:pPr indent="0" marL="0">
              <a:lnSpc>
                <a:spcPct val="106000"/>
              </a:lnSpc>
              <a:buNone/>
            </a:pPr>
            <a:r>
              <a:rPr lang="en-US" sz="1000" dirty="0">
                <a:solidFill>
                  <a:srgbClr val="C7CCD1"/>
                </a:solidFill>
                <a:latin typeface="Cambria" pitchFamily="34" charset="0"/>
                <a:ea typeface="Cambria" pitchFamily="34" charset="-122"/>
                <a:cs typeface="Cambria" pitchFamily="34" charset="-120"/>
              </a:rPr>
              <a:t>La 101e escorte de nouveau Melba Pattillo Beals.</a:t>
            </a:r>
            <a:endParaRPr lang="en-US" sz="1000" dirty="0"/>
          </a:p>
        </p:txBody>
      </p:sp>
      <p:sp>
        <p:nvSpPr>
          <p:cNvPr id="10" name="Text 6"/>
          <p:cNvSpPr txBox="1"/>
          <p:nvPr/>
        </p:nvSpPr>
        <p:spPr>
          <a:xfrm>
            <a:off x="3447288" y="5257800"/>
            <a:ext cx="2505456"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U.S. Army, CC BY 2.0</a:t>
            </a:r>
            <a:endParaRPr lang="en-US" sz="750" dirty="0"/>
          </a:p>
        </p:txBody>
      </p:sp>
      <p:pic>
        <p:nvPicPr>
          <p:cNvPr id="11" name="Image 2" descr="/home/user/Kiffclub-/little-rock-nine/images/lbj3.jpg">    </p:cNvPr>
          <p:cNvPicPr>
            <a:picLocks noChangeAspect="1"/>
          </p:cNvPicPr>
          <p:nvPr/>
        </p:nvPicPr>
        <p:blipFill>
          <a:blip r:embed="rId3"/>
          <a:srcRect l="0" r="0" t="0" b="0"/>
          <a:stretch/>
        </p:blipFill>
        <p:spPr>
          <a:xfrm>
            <a:off x="6208776" y="2697480"/>
            <a:ext cx="2505456" cy="1783080"/>
          </a:xfrm>
          <a:prstGeom prst="rect">
            <a:avLst/>
          </a:prstGeom>
        </p:spPr>
      </p:pic>
      <p:sp>
        <p:nvSpPr>
          <p:cNvPr id="12" name="Text 7"/>
          <p:cNvSpPr txBox="1"/>
          <p:nvPr/>
        </p:nvSpPr>
        <p:spPr>
          <a:xfrm>
            <a:off x="6208776" y="4572000"/>
            <a:ext cx="2505456" cy="457200"/>
          </a:xfrm>
          <a:prstGeom prst="rect">
            <a:avLst/>
          </a:prstGeom>
          <a:noFill/>
          <a:ln/>
        </p:spPr>
        <p:txBody>
          <a:bodyPr wrap="square" lIns="0" tIns="0" rIns="0" bIns="0" rtlCol="0" anchor="ctr"/>
          <a:lstStyle/>
          <a:p>
            <a:pPr indent="0" marL="0">
              <a:lnSpc>
                <a:spcPct val="106000"/>
              </a:lnSpc>
              <a:buNone/>
            </a:pPr>
            <a:r>
              <a:rPr lang="en-US" sz="1000" dirty="0">
                <a:solidFill>
                  <a:srgbClr val="C7CCD1"/>
                </a:solidFill>
                <a:latin typeface="Cambria" pitchFamily="34" charset="0"/>
                <a:ea typeface="Cambria" pitchFamily="34" charset="-122"/>
                <a:cs typeface="Cambria" pitchFamily="34" charset="-120"/>
              </a:rPr>
              <a:t>Ernest Green, Carlotta Walls LaNier, Terrence Roberts.</a:t>
            </a:r>
            <a:endParaRPr lang="en-US" sz="1000" dirty="0"/>
          </a:p>
        </p:txBody>
      </p:sp>
      <p:sp>
        <p:nvSpPr>
          <p:cNvPr id="13" name="Text 8"/>
          <p:cNvSpPr txBox="1"/>
          <p:nvPr/>
        </p:nvSpPr>
        <p:spPr>
          <a:xfrm>
            <a:off x="6208776" y="5257800"/>
            <a:ext cx="2505456"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Lauren Gerson, LBJ Library, domaine public</a:t>
            </a:r>
            <a:endParaRPr lang="en-US" sz="750" dirty="0"/>
          </a:p>
        </p:txBody>
      </p:sp>
      <p:pic>
        <p:nvPicPr>
          <p:cNvPr id="14" name="Image 3" descr="/home/user/Kiffclub-/little-rock-nine/images/thennow.jpg">    </p:cNvPr>
          <p:cNvPicPr>
            <a:picLocks noChangeAspect="1"/>
          </p:cNvPicPr>
          <p:nvPr/>
        </p:nvPicPr>
        <p:blipFill>
          <a:blip r:embed="rId4"/>
          <a:srcRect l="0" r="0" t="0" b="0"/>
          <a:stretch/>
        </p:blipFill>
        <p:spPr>
          <a:xfrm>
            <a:off x="8970264" y="2697480"/>
            <a:ext cx="2505456" cy="1783080"/>
          </a:xfrm>
          <a:prstGeom prst="rect">
            <a:avLst/>
          </a:prstGeom>
        </p:spPr>
      </p:pic>
      <p:sp>
        <p:nvSpPr>
          <p:cNvPr id="15" name="Text 9"/>
          <p:cNvSpPr txBox="1"/>
          <p:nvPr/>
        </p:nvSpPr>
        <p:spPr>
          <a:xfrm>
            <a:off x="8970264" y="4572000"/>
            <a:ext cx="2505456" cy="457200"/>
          </a:xfrm>
          <a:prstGeom prst="rect">
            <a:avLst/>
          </a:prstGeom>
          <a:noFill/>
          <a:ln/>
        </p:spPr>
        <p:txBody>
          <a:bodyPr wrap="square" lIns="0" tIns="0" rIns="0" bIns="0" rtlCol="0" anchor="ctr"/>
          <a:lstStyle/>
          <a:p>
            <a:pPr indent="0" marL="0">
              <a:lnSpc>
                <a:spcPct val="106000"/>
              </a:lnSpc>
              <a:buNone/>
            </a:pPr>
            <a:r>
              <a:rPr lang="en-US" sz="1000" dirty="0">
                <a:solidFill>
                  <a:srgbClr val="C7CCD1"/>
                </a:solidFill>
                <a:latin typeface="Cambria" pitchFamily="34" charset="0"/>
                <a:ea typeface="Cambria" pitchFamily="34" charset="-122"/>
                <a:cs typeface="Cambria" pitchFamily="34" charset="-120"/>
              </a:rPr>
              <a:t>Chaque visage à 15 ans, et le même aujourd'hui.</a:t>
            </a:r>
            <a:endParaRPr lang="en-US" sz="1000" dirty="0"/>
          </a:p>
        </p:txBody>
      </p:sp>
      <p:sp>
        <p:nvSpPr>
          <p:cNvPr id="16" name="Text 10"/>
          <p:cNvSpPr txBox="1"/>
          <p:nvPr/>
        </p:nvSpPr>
        <p:spPr>
          <a:xfrm>
            <a:off x="8970264" y="5257800"/>
            <a:ext cx="2505456" cy="274320"/>
          </a:xfrm>
          <a:prstGeom prst="rect">
            <a:avLst/>
          </a:prstGeom>
          <a:noFill/>
          <a:ln/>
        </p:spPr>
        <p:txBody>
          <a:bodyPr wrap="square" lIns="0" tIns="0" rIns="0" bIns="0" rtlCol="0" anchor="ctr"/>
          <a:lstStyle/>
          <a:p>
            <a:pPr indent="0" marL="0">
              <a:buNone/>
            </a:pPr>
            <a:r>
              <a:rPr lang="en-US" sz="750" dirty="0">
                <a:solidFill>
                  <a:srgbClr val="9AA1A8"/>
                </a:solidFill>
                <a:latin typeface="Arial" pitchFamily="34" charset="0"/>
                <a:ea typeface="Arial" pitchFamily="34" charset="-122"/>
                <a:cs typeface="Arial" pitchFamily="34" charset="-120"/>
              </a:rPr>
              <a:t>Adam Jones, Ph.D., CC BY-SA 3.0</a:t>
            </a:r>
            <a:endParaRPr lang="en-US" sz="750" dirty="0"/>
          </a:p>
        </p:txBody>
      </p:sp>
      <p:sp>
        <p:nvSpPr>
          <p:cNvPr id="17" name="Text 11"/>
          <p:cNvSpPr txBox="1"/>
          <p:nvPr/>
        </p:nvSpPr>
        <p:spPr>
          <a:xfrm>
            <a:off x="685800" y="5897880"/>
            <a:ext cx="10789920" cy="457200"/>
          </a:xfrm>
          <a:prstGeom prst="rect">
            <a:avLst/>
          </a:prstGeom>
          <a:noFill/>
          <a:ln/>
        </p:spPr>
        <p:txBody>
          <a:bodyPr wrap="square" lIns="0" tIns="0" rIns="0" bIns="0" rtlCol="0" anchor="ctr"/>
          <a:lstStyle/>
          <a:p>
            <a:pPr indent="0" marL="0">
              <a:buNone/>
            </a:pPr>
            <a:r>
              <a:rPr lang="en-US" sz="2000" b="1" spc="40" kern="0" dirty="0">
                <a:solidFill>
                  <a:srgbClr val="FFFFFF"/>
                </a:solidFill>
                <a:latin typeface="Arial" pitchFamily="34" charset="0"/>
                <a:ea typeface="Arial" pitchFamily="34" charset="-122"/>
                <a:cs typeface="Arial" pitchFamily="34" charset="-120"/>
              </a:rPr>
              <a:t>LE CHANGEMENT N'EST JAMAIS FACILE. IL RESTE POSSIBLE.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Little Rock Nine — septembre 1957</dc:title>
  <dc:subject>PptxGenJS Presentation</dc:subject>
  <dc:creator>Little Rock Nine</dc:creator>
  <cp:lastModifiedBy>Little Rock Nine</cp:lastModifiedBy>
  <cp:revision>1</cp:revision>
  <dcterms:created xsi:type="dcterms:W3CDTF">2026-09-10T11:14:35Z</dcterms:created>
  <dcterms:modified xsi:type="dcterms:W3CDTF">2026-09-10T11:14:35Z</dcterms:modified>
</cp:coreProperties>
</file>